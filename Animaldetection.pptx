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slides/slide24.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useTimings="0">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7792" autoAdjust="0"/>
    <p:restoredTop sz="94362" autoAdjust="0"/>
  </p:normalViewPr>
  <p:slideViewPr>
    <p:cSldViewPr snapToGrid="0">
      <p:cViewPr varScale="1">
        <p:scale>
          <a:sx n="84" d="100"/>
          <a:sy n="84"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8" name="文本框"/>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5/22/2026</a:t>
            </a:fld>
            <a:endParaRPr lang="zh-CN" altLang="en-US" sz="1200">
              <a:latin typeface="Calibri" pitchFamily="0" charset="0"/>
              <a:ea typeface="等线" pitchFamily="0" charset="0"/>
              <a:cs typeface="Calibri" pitchFamily="0" charset="0"/>
            </a:endParaRPr>
          </a:p>
        </p:txBody>
      </p:sp>
      <p:sp>
        <p:nvSpPr>
          <p:cNvPr id="9" name="对象"/>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10" name="文本框"/>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1" name="文本框"/>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12"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329105515"/>
      </p:ext>
    </p:extLst>
  </p:cSld>
  <p:clrMap bg1="lt1" tx1="dk1" bg2="lt2" tx2="dk2" accent1="accent1" accent2="accent2" accent3="accent3" accent4="accent4" accent5="accent5" accent6="accent6" hlink="hlink" folHlink="folHlink"/>
  <p:hf sldNum="0"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1"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52"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852358217"/>
      </p:ext>
    </p:extLst>
  </p:cSld>
  <p:clrMapOvr>
    <a:masterClrMapping/>
  </p:clrMapOvr>
</p:notes>
</file>

<file path=ppt/notesSlides/notesSlide1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5"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56"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25843732"/>
      </p:ext>
    </p:extLst>
  </p:cSld>
  <p:clrMapOvr>
    <a:masterClrMapping/>
  </p:clrMapOvr>
</p:notes>
</file>

<file path=ppt/notesSlides/notesSlide1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9"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60"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883409062"/>
      </p:ext>
    </p:extLst>
  </p:cSld>
  <p:clrMapOvr>
    <a:masterClrMapping/>
  </p:clrMapOvr>
</p:notes>
</file>

<file path=ppt/notesSlides/notesSlide1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3"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64"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2120985654"/>
      </p:ext>
    </p:extLst>
  </p:cSld>
  <p:clrMapOvr>
    <a:masterClrMapping/>
  </p:clrMapOvr>
</p:notes>
</file>

<file path=ppt/notesSlides/notesSlide1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7"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68"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751493935"/>
      </p:ext>
    </p:extLst>
  </p:cSld>
  <p:clrMapOvr>
    <a:masterClrMapping/>
  </p:clrMapOvr>
</p:notes>
</file>

<file path=ppt/notesSlides/notesSlide1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1"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72"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099618543"/>
      </p:ext>
    </p:extLst>
  </p:cSld>
  <p:clrMapOvr>
    <a:masterClrMapping/>
  </p:clrMapOvr>
</p:notes>
</file>

<file path=ppt/notesSlides/notesSlide2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5"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76"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495603513"/>
      </p:ext>
    </p:extLst>
  </p:cSld>
  <p:clrMapOvr>
    <a:masterClrMapping/>
  </p:clrMapOvr>
</p:notes>
</file>

<file path=ppt/notesSlides/notesSlide2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9"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80"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259801853"/>
      </p:ext>
    </p:extLst>
  </p:cSld>
  <p:clrMapOvr>
    <a:masterClrMapping/>
  </p:clrMapOvr>
</p:notes>
</file>

<file path=ppt/notesSlides/notesSlide2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3"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84"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603089307"/>
      </p:ext>
    </p:extLst>
  </p:cSld>
  <p:clrMapOvr>
    <a:masterClrMapping/>
  </p:clrMapOvr>
</p:notes>
</file>

<file path=ppt/notesSlides/notesSlide2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7" name="文本框"/>
          <p:cNvSpPr>
            <a:spLocks noGrp="1"/>
          </p:cNvSpPr>
          <p:nvPr>
            <p:ph type="body" idx="1"/>
          </p:nvPr>
        </p:nvSpPr>
        <p:spPr>
          <a:xfrm rot="0">
            <a:off x="685800" y="4343400"/>
            <a:ext cx="5486400" cy="4114800"/>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88" name="对象"/>
          <p:cNvSpPr>
            <a:spLocks noGrp="1" noChangeAspect="1"/>
          </p:cNvSpPr>
          <p:nvPr>
            <p:ph type="sldImg" idx="2"/>
          </p:nvPr>
        </p:nvSpPr>
        <p:spPr>
          <a:xfrm rot="0">
            <a:off x="381000" y="685800"/>
            <a:ext cx="6096000" cy="3429000"/>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406545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showMasterSp="0" type="title" preserve="1">
  <p:cSld name="标题幻灯片">
    <p:bg>
      <p:bgPr>
        <a:solidFill>
          <a:schemeClr val="bg1"/>
        </a:solidFill>
      </p:bgPr>
    </p:bg>
    <p:spTree>
      <p:nvGrpSpPr>
        <p:cNvPr id="1" name=""/>
        <p:cNvGrpSpPr/>
        <p:nvPr/>
      </p:nvGrpSpPr>
      <p:grpSpPr>
        <a:xfrm>
          <a:off x="0" y="0"/>
          <a:ext cx="0" cy="0"/>
          <a:chOff x="0" y="0"/>
          <a:chExt cx="0" cy="0"/>
        </a:xfrm>
      </p:grpSpPr>
      <p:sp>
        <p:nvSpPr>
          <p:cNvPr id="13" name="文本框"/>
          <p:cNvSpPr>
            <a:spLocks noGrp="1"/>
          </p:cNvSpPr>
          <p:nvPr>
            <p:ph type="ctrTitle"/>
          </p:nvPr>
        </p:nvSpPr>
        <p:spPr>
          <a:xfrm rot="0">
            <a:off x="1524000" y="1122363"/>
            <a:ext cx="9144000" cy="2387600"/>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90000"/>
              </a:lnSpc>
              <a:spcBef>
                <a:spcPts val="0"/>
              </a:spcBef>
              <a:spcAft>
                <a:spcPts val="0"/>
              </a:spcAft>
              <a:buNone/>
            </a:pPr>
            <a:r>
              <a:rPr lang="en-US" altLang="zh-CN" sz="6000" b="0" i="0" u="none" strike="noStrike" kern="1200" cap="none" spc="0" baseline="0">
                <a:solidFill>
                  <a:schemeClr val="tx1"/>
                </a:solidFill>
                <a:latin typeface="Calibri Light" pitchFamily="0" charset="0"/>
                <a:ea typeface="等线 Light" pitchFamily="0" charset="0"/>
                <a:cs typeface="Lucida Sans" pitchFamily="0" charset="0"/>
              </a:rPr>
              <a:t>Click to edit Master title style</a:t>
            </a:r>
            <a:endParaRPr lang="zh-CN" altLang="en-US" sz="6000" b="0" i="0" u="none" strike="noStrike" kern="1200" cap="none" spc="0" baseline="0">
              <a:solidFill>
                <a:schemeClr val="tx1"/>
              </a:solidFill>
              <a:latin typeface="Calibri Light" pitchFamily="0" charset="0"/>
              <a:ea typeface="等线 Light" pitchFamily="0" charset="0"/>
              <a:cs typeface="Lucida Sans" pitchFamily="0" charset="0"/>
            </a:endParaRPr>
          </a:p>
        </p:txBody>
      </p:sp>
      <p:sp>
        <p:nvSpPr>
          <p:cNvPr id="14" name="文本框"/>
          <p:cNvSpPr>
            <a:spLocks noGrp="1"/>
          </p:cNvSpPr>
          <p:nvPr>
            <p:ph type="subTitle" idx="1"/>
          </p:nvPr>
        </p:nvSpPr>
        <p:spPr>
          <a:xfrm rot="0">
            <a:off x="1524000" y="3602038"/>
            <a:ext cx="9144000" cy="165576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en-US" altLang="zh-CN" sz="2400" b="0" i="0" u="none" strike="noStrike" kern="1200" cap="none" spc="0" baseline="0">
                <a:solidFill>
                  <a:schemeClr val="tx1"/>
                </a:solidFill>
                <a:latin typeface="Calibri" pitchFamily="0" charset="0"/>
                <a:ea typeface="等线" pitchFamily="0" charset="0"/>
                <a:cs typeface="Lucida Sans" pitchFamily="0" charset="0"/>
              </a:rPr>
              <a:t>Click to edit Master subtitle style</a:t>
            </a:r>
            <a:endParaRPr lang="zh-CN" altLang="en-US" sz="2400" b="0" i="0" u="none" strike="noStrike" kern="1200" cap="none" spc="0" baseline="0">
              <a:solidFill>
                <a:schemeClr val="tx1"/>
              </a:solidFill>
              <a:latin typeface="Calibri" pitchFamily="0" charset="0"/>
              <a:ea typeface="等线" pitchFamily="0" charset="0"/>
              <a:cs typeface="Lucida Sans" pitchFamily="0" charset="0"/>
            </a:endParaRPr>
          </a:p>
        </p:txBody>
      </p:sp>
      <p:sp>
        <p:nvSpPr>
          <p:cNvPr id="15" name="文本框"/>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100000"/>
              </a:lnSpc>
              <a:spcBef>
                <a:spcPts val="0"/>
              </a:spcBef>
              <a:spcAft>
                <a:spcPts val="0"/>
              </a:spcAft>
              <a:buNone/>
            </a:pP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6" name="文本框"/>
          <p:cNvSpPr>
            <a:spLocks noGrp="1"/>
          </p:cNvSpPr>
          <p:nvPr>
            <p:ph type="ftr"/>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100000"/>
              </a:lnSpc>
              <a:spcBef>
                <a:spcPts val="0"/>
              </a:spcBef>
              <a:spcAft>
                <a:spcPts val="0"/>
              </a:spcAft>
              <a:buNone/>
            </a:pPr>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
        <p:nvSpPr>
          <p:cNvPr id="17" name="文本框"/>
          <p:cNvSpPr>
            <a:spLocks noGrp="1"/>
          </p:cNvSpPr>
          <p:nvPr>
            <p:ph type="sldNum"/>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b="0" i="0" u="none" strike="noStrike" kern="1200" cap="none" spc="0" baseline="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51110632"/>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699803173"/>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753544232"/>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207666574"/>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8"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156078338"/>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477108825"/>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3"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461997274"/>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06172670"/>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106128160"/>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817843472"/>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976438261"/>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chemeClr val="bg1"/>
        </a:solidFill>
      </p:bgPr>
    </p:bg>
    <p:spTree>
      <p:nvGrpSpPr>
        <p:cNvPr id="1" name=""/>
        <p:cNvGrpSpPr/>
        <p:nvPr/>
      </p:nvGrpSpPr>
      <p:grpSpPr>
        <a:xfrm xmlns:a="http://schemas.openxmlformats.org/drawingml/2006/main">
          <a:off x="0" y="0"/>
          <a:ext cx="0" cy="0"/>
          <a:chOff x="0" y="0"/>
          <a:chExt cx="0" cy="0"/>
        </a:xfrm>
      </p:grpSpPr>
      <p:sp>
        <p:nvSpPr>
          <p:cNvPr id="20" name="文本框"/>
          <p:cNvSpPr>
            <a:spLocks xmlns:a="http://schemas.openxmlformats.org/drawingml/2006/main" noGrp="1"/>
          </p:cNvSpPr>
          <p:nvPr>
            <p:ph type="title"/>
          </p:nvPr>
        </p:nvSpPr>
        <p:spPr>
          <a:xfrm xmlns:a="http://schemas.openxmlformats.org/drawingml/2006/main" rot="0">
            <a:off x="838200" y="365124"/>
            <a:ext cx="10515600" cy="1325562"/>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r>
              <a:rPr lang="en-US" altLang="zh-CN"/>
              <a:t>Click to edit Master title style</a:t>
            </a:r>
            <a:endParaRPr lang="zh-CN" altLang="en-US"/>
          </a:p>
        </p:txBody>
      </p:sp>
      <p:sp>
        <p:nvSpPr>
          <p:cNvPr id="21" name="文本框"/>
          <p:cNvSpPr>
            <a:spLocks xmlns:a="http://schemas.openxmlformats.org/drawingml/2006/main" noGrp="1"/>
          </p:cNvSpPr>
          <p:nvPr>
            <p:ph type="body" idx="1"/>
          </p:nvPr>
        </p:nvSpPr>
        <p:spPr>
          <a:xfrm xmlns:a="http://schemas.openxmlformats.org/drawingml/2006/main" rot="0">
            <a:off x="838200" y="1825625"/>
            <a:ext cx="10515600" cy="4351338"/>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bodyPr>
          <a:lstStyle xmlns:a="http://schemas.openxmlformats.org/drawingml/2006/main"/>
          <a:p xmlns:a="http://schemas.openxmlformats.org/drawingml/2006/main">
            <a:r>
              <a:rPr lang="en-US" altLang="zh-CN"/>
              <a:t>Edit Master text styles</a:t>
            </a:r>
            <a:endParaRPr lang="en-US" altLang="zh-CN"/>
          </a:p>
          <a:p xmlns:a="http://schemas.openxmlformats.org/drawingml/2006/main">
            <a:pPr lvl="1"/>
            <a:r>
              <a:rPr lang="en-US" altLang="zh-CN"/>
              <a:t>Second level</a:t>
            </a:r>
            <a:endParaRPr lang="en-US" altLang="zh-CN"/>
          </a:p>
          <a:p xmlns:a="http://schemas.openxmlformats.org/drawingml/2006/main">
            <a:pPr lvl="2"/>
            <a:r>
              <a:rPr lang="en-US" altLang="zh-CN"/>
              <a:t>Third level</a:t>
            </a:r>
            <a:endParaRPr lang="en-US" altLang="zh-CN"/>
          </a:p>
          <a:p xmlns:a="http://schemas.openxmlformats.org/drawingml/2006/main">
            <a:pPr lvl="3"/>
            <a:r>
              <a:rPr lang="en-US" altLang="zh-CN"/>
              <a:t>Fourth level</a:t>
            </a:r>
            <a:endParaRPr lang="en-US" altLang="zh-CN"/>
          </a:p>
          <a:p xmlns:a="http://schemas.openxmlformats.org/drawingml/2006/main">
            <a:pPr lvl="4"/>
            <a:r>
              <a:rPr lang="en-US" altLang="zh-CN"/>
              <a:t>Fifth level</a:t>
            </a:r>
            <a:endParaRPr lang="zh-CN" altLang="en-US"/>
          </a:p>
        </p:txBody>
      </p:sp>
      <p:sp>
        <p:nvSpPr>
          <p:cNvPr id="22" name="文本框"/>
          <p:cNvSpPr>
            <a:spLocks xmlns:a="http://schemas.openxmlformats.org/drawingml/2006/main" noGrp="1"/>
          </p:cNvSpPr>
          <p:nvPr>
            <p:ph type="dt" idx="10"/>
          </p:nvPr>
        </p:nvSpPr>
        <p:spPr>
          <a:xfrm xmlns:a="http://schemas.openxmlformats.org/drawingml/2006/main" rot="0">
            <a:off x="838200" y="6356349"/>
            <a:ext cx="2743200" cy="365125"/>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l"/>
            <a:endParaRPr lang="zh-CN" altLang="en-US" sz="1200">
              <a:solidFill>
                <a:srgbClr val="898989"/>
              </a:solidFill>
              <a:latin typeface="Calibri" pitchFamily="0" charset="0"/>
              <a:ea typeface="等线" pitchFamily="0" charset="0"/>
              <a:cs typeface="Calibri" pitchFamily="0" charset="0"/>
            </a:endParaRPr>
          </a:p>
        </p:txBody>
      </p:sp>
      <p:sp>
        <p:nvSpPr>
          <p:cNvPr id="23" name="文本框"/>
          <p:cNvSpPr>
            <a:spLocks xmlns:a="http://schemas.openxmlformats.org/drawingml/2006/main" noGrp="1"/>
          </p:cNvSpPr>
          <p:nvPr>
            <p:ph type="ftr"/>
          </p:nvPr>
        </p:nvSpPr>
        <p:spPr>
          <a:xfrm xmlns:a="http://schemas.openxmlformats.org/drawingml/2006/main" rot="0">
            <a:off x="4038600" y="6356349"/>
            <a:ext cx="4114800" cy="365125"/>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ctr"/>
            <a:endParaRPr lang="zh-CN" altLang="en-US" sz="1200">
              <a:solidFill>
                <a:srgbClr val="898989"/>
              </a:solidFill>
              <a:latin typeface="Calibri" pitchFamily="0" charset="0"/>
              <a:ea typeface="等线" pitchFamily="0" charset="0"/>
              <a:cs typeface="Calibri" pitchFamily="0" charset="0"/>
            </a:endParaRPr>
          </a:p>
        </p:txBody>
      </p:sp>
      <p:sp>
        <p:nvSpPr>
          <p:cNvPr id="24" name="文本框"/>
          <p:cNvSpPr>
            <a:spLocks xmlns:a="http://schemas.openxmlformats.org/drawingml/2006/main" noGrp="1"/>
          </p:cNvSpPr>
          <p:nvPr>
            <p:ph type="sldNum"/>
          </p:nvPr>
        </p:nvSpPr>
        <p:spPr>
          <a:xfrm xmlns:a="http://schemas.openxmlformats.org/drawingml/2006/main" rot="0">
            <a:off x="8610600" y="6356349"/>
            <a:ext cx="2743200" cy="365125"/>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ctr" anchorCtr="0">
            <a:prstTxWarp prst="textNoShape"/>
          </a:bodyPr>
          <a:lstStyle xmlns:a="http://schemas.openxmlformats.org/drawingml/2006/main"/>
          <a:p xmlns:a="http://schemas.openxmlformats.org/drawingml/2006/main">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88256997"/>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文本框"/>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文本框"/>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文本框"/>
          <p:cNvSpPr>
            <a:spLocks noGrp="1"/>
          </p:cNvSpPr>
          <p:nvPr>
            <p:ph type="dt" idx="2"/>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fld id="{CAD2D6BD-DE1B-4B5F-8B41-2702339687B9}" type="datetime1">
              <a:rPr lang="en-US" altLang="zh-CN" sz="1200">
                <a:solidFill>
                  <a:srgbClr val="898989"/>
                </a:solidFill>
                <a:latin typeface="Calibri" pitchFamily="0" charset="0"/>
                <a:ea typeface="等线" pitchFamily="0" charset="0"/>
                <a:cs typeface="Calibri" pitchFamily="0" charset="0"/>
              </a:rPr>
              <a:t>5/22/2026</a:t>
            </a:fld>
            <a:endParaRPr lang="zh-CN" altLang="en-US" sz="1200">
              <a:solidFill>
                <a:srgbClr val="898989"/>
              </a:solidFill>
              <a:latin typeface="Calibri" pitchFamily="0" charset="0"/>
              <a:ea typeface="等线" pitchFamily="0" charset="0"/>
              <a:cs typeface="Calibri" pitchFamily="0" charset="0"/>
            </a:endParaRPr>
          </a:p>
        </p:txBody>
      </p:sp>
      <p:sp>
        <p:nvSpPr>
          <p:cNvPr id="5" name="文本框"/>
          <p:cNvSpPr>
            <a:spLocks noGrp="1"/>
          </p:cNvSpPr>
          <p:nvPr>
            <p:ph type="ftr" idx="3"/>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898989"/>
              </a:solidFill>
              <a:latin typeface="Calibri" pitchFamily="0" charset="0"/>
              <a:ea typeface="等线" pitchFamily="0" charset="0"/>
              <a:cs typeface="Calibri" pitchFamily="0" charset="0"/>
            </a:endParaRPr>
          </a:p>
        </p:txBody>
      </p:sp>
      <p:sp>
        <p:nvSpPr>
          <p:cNvPr id="6" name="文本框"/>
          <p:cNvSpPr>
            <a:spLocks noGrp="1"/>
          </p:cNvSpPr>
          <p:nvPr>
            <p:ph type="sldNum" idx="4"/>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898989"/>
                </a:solidFill>
                <a:latin typeface="Calibri" pitchFamily="0" charset="0"/>
                <a:ea typeface="等线" pitchFamily="0" charset="0"/>
                <a:cs typeface="Calibri" pitchFamily="0" charset="0"/>
              </a:rPr>
              <a:t>&lt;#&gt;</a:t>
            </a:fld>
            <a:endParaRPr lang="zh-CN" altLang="en-US" sz="1200">
              <a:solidFill>
                <a:srgbClr val="898989"/>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97145662"/>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Calibri" pitchFamily="0" charset="0"/>
          <a:ea typeface="等线" pitchFamily="0" charset="0"/>
          <a:cs typeface="Calibri"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 name="文本框"/>
          <p:cNvSpPr>
            <a:spLocks noGrp="1"/>
          </p:cNvSpPr>
          <p:nvPr>
            <p:ph type="ctrTitle"/>
          </p:nvPr>
        </p:nvSpPr>
        <p:spPr>
          <a:xfrm rot="0">
            <a:off x="51090" y="-561966"/>
            <a:ext cx="11956472" cy="2133601"/>
          </a:xfrm>
          <a:prstGeom prst="rect"/>
          <a:noFill/>
          <a:ln w="12700" cmpd="sng" cap="flat">
            <a:noFill/>
            <a:prstDash val="solid"/>
            <a:miter/>
          </a:ln>
        </p:spPr>
        <p:txBody>
          <a:bodyPr vert="horz" wrap="square" lIns="91440" tIns="45720" rIns="91440" bIns="45720" anchor="b" anchorCtr="0">
            <a:prstTxWarp prst="textNoShape"/>
          </a:bodyPr>
          <a:lstStyle/>
          <a:p>
            <a:pPr marL="0" indent="0" algn="ctr">
              <a:lnSpc>
                <a:spcPct val="107000"/>
              </a:lnSpc>
              <a:spcBef>
                <a:spcPts val="0"/>
              </a:spcBef>
              <a:spcAft>
                <a:spcPts val="800"/>
              </a:spcAft>
              <a:buNone/>
            </a:pPr>
            <a:r>
              <a:rPr lang="en-US" altLang="zh-CN" sz="4300" b="1" i="0" u="none" strike="noStrike" kern="1200" cap="none" spc="0" baseline="0">
                <a:solidFill>
                  <a:schemeClr val="tx1"/>
                </a:solidFill>
                <a:latin typeface="Times New Roman" pitchFamily="18" charset="0"/>
                <a:ea typeface="Calibri" pitchFamily="0" charset="0"/>
                <a:cs typeface="Times New Roman" pitchFamily="18" charset="0"/>
              </a:rPr>
              <a:t>A</a:t>
            </a:r>
            <a:r>
              <a:rPr lang="en-US" altLang="zh-CN" sz="4300" b="1" i="0" u="none" strike="noStrike" kern="1200" cap="none" spc="0" baseline="0">
                <a:solidFill>
                  <a:schemeClr val="tx1"/>
                </a:solidFill>
                <a:latin typeface="Times New Roman" pitchFamily="18" charset="0"/>
                <a:ea typeface="Calibri" pitchFamily="0" charset="0"/>
                <a:cs typeface="Times New Roman" pitchFamily="18" charset="0"/>
              </a:rPr>
              <a:t>nimal Detection in Road Safety </a:t>
            </a:r>
            <a:endParaRPr lang="zh-CN" altLang="en-US" sz="4300" b="0" i="0" u="none" strike="noStrike" kern="1200" cap="none" spc="0" baseline="0">
              <a:solidFill>
                <a:schemeClr val="tx1"/>
              </a:solidFill>
              <a:latin typeface="Calibri" pitchFamily="0" charset="0"/>
              <a:ea typeface="Calibri" pitchFamily="0" charset="0"/>
              <a:cs typeface="Times New Roman" pitchFamily="18" charset="0"/>
            </a:endParaRPr>
          </a:p>
        </p:txBody>
      </p:sp>
      <p:sp>
        <p:nvSpPr>
          <p:cNvPr id="19" name="文本框"/>
          <p:cNvSpPr>
            <a:spLocks noGrp="1"/>
          </p:cNvSpPr>
          <p:nvPr>
            <p:ph type="subTitle" idx="1"/>
          </p:nvPr>
        </p:nvSpPr>
        <p:spPr>
          <a:xfrm rot="0">
            <a:off x="1524000" y="2928215"/>
            <a:ext cx="9144000" cy="2842202"/>
          </a:xfrm>
          <a:prstGeom prst="rect"/>
          <a:noFill/>
          <a:ln w="12700" cmpd="sng" cap="flat">
            <a:noFill/>
            <a:prstDash val="solid"/>
            <a:miter/>
          </a:ln>
        </p:spPr>
        <p:txBody>
          <a:bodyPr vert="horz" wrap="square" lIns="91440" tIns="45720" rIns="91440" bIns="45720" anchor="t" anchorCtr="0">
            <a:prstTxWarp prst="textNoShape"/>
          </a:bodyPr>
          <a:lstStyle/>
          <a:p>
            <a:pPr marL="0" indent="0" algn="ctr">
              <a:lnSpc>
                <a:spcPct val="90000"/>
              </a:lnSpc>
              <a:spcBef>
                <a:spcPts val="1000"/>
              </a:spcBef>
              <a:spcAft>
                <a:spcPts val="0"/>
              </a:spcAft>
              <a:buNone/>
            </a:pPr>
            <a:r>
              <a:rPr lang="en-US" altLang="zh-CN" sz="3600" b="1" i="0" u="none" strike="noStrike" kern="1200" cap="none" spc="0" baseline="0">
                <a:solidFill>
                  <a:schemeClr val="tx1"/>
                </a:solidFill>
                <a:latin typeface="Times New Roman" pitchFamily="18" charset="0"/>
                <a:ea typeface="等线" pitchFamily="0" charset="0"/>
                <a:cs typeface="Times New Roman" pitchFamily="18" charset="0"/>
              </a:rPr>
              <a:t>Presented By:</a:t>
            </a:r>
            <a:endParaRPr lang="en-US" altLang="zh-CN" sz="3600" b="1"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ctr">
              <a:lnSpc>
                <a:spcPct val="90000"/>
              </a:lnSpc>
              <a:spcBef>
                <a:spcPts val="1000"/>
              </a:spcBef>
              <a:spcAft>
                <a:spcPts val="0"/>
              </a:spcAft>
              <a:buNone/>
            </a:pPr>
            <a:r>
              <a:rPr lang="en-US" altLang="zh-CN" sz="3600" b="1" i="0" u="none" strike="noStrike" kern="1200" cap="none" spc="0" baseline="0">
                <a:solidFill>
                  <a:schemeClr val="tx1"/>
                </a:solidFill>
                <a:latin typeface="Times New Roman" pitchFamily="18" charset="0"/>
                <a:ea typeface="等线" pitchFamily="0" charset="0"/>
                <a:cs typeface="Times New Roman" pitchFamily="18" charset="0"/>
              </a:rPr>
              <a:t>Jenitta M</a:t>
            </a:r>
            <a:endParaRPr lang="en-US" altLang="zh-CN" sz="3600" b="1"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ctr">
              <a:lnSpc>
                <a:spcPct val="90000"/>
              </a:lnSpc>
              <a:spcBef>
                <a:spcPts val="1000"/>
              </a:spcBef>
              <a:spcAft>
                <a:spcPts val="0"/>
              </a:spcAft>
              <a:buNone/>
            </a:pPr>
            <a:endParaRPr lang="zh-CN" altLang="en-US" sz="3600" b="1"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494727668"/>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5" name="文本框"/>
          <p:cNvSpPr>
            <a:spLocks noGrp="1"/>
          </p:cNvSpPr>
          <p:nvPr>
            <p:ph type="title"/>
          </p:nvPr>
        </p:nvSpPr>
        <p:spPr>
          <a:xfrm rot="0">
            <a:off x="551543" y="0"/>
            <a:ext cx="11146971" cy="580571"/>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Times New Roman" pitchFamily="18" charset="0"/>
                <a:ea typeface="等线 Light" pitchFamily="0" charset="0"/>
                <a:cs typeface="Times New Roman" pitchFamily="18" charset="0"/>
              </a:rPr>
              <a:t>Problem Statement</a:t>
            </a:r>
            <a:endParaRPr lang="zh-CN" altLang="en-US" sz="4000" b="1" i="0" u="none" strike="noStrike" kern="1200" cap="none" spc="0" baseline="0">
              <a:solidFill>
                <a:schemeClr val="tx1"/>
              </a:solidFill>
              <a:latin typeface="Times New Roman" pitchFamily="18" charset="0"/>
              <a:ea typeface="等线 Light" pitchFamily="0" charset="0"/>
              <a:cs typeface="Times New Roman" pitchFamily="18" charset="0"/>
            </a:endParaRPr>
          </a:p>
        </p:txBody>
      </p:sp>
      <p:sp>
        <p:nvSpPr>
          <p:cNvPr id="26" name="文本框"/>
          <p:cNvSpPr>
            <a:spLocks noGrp="1"/>
          </p:cNvSpPr>
          <p:nvPr>
            <p:ph type="body" idx="1"/>
          </p:nvPr>
        </p:nvSpPr>
        <p:spPr>
          <a:xfrm rot="0">
            <a:off x="551543" y="769257"/>
            <a:ext cx="11146971" cy="579289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Road crossings in forest and rural areas experience frequent wildlife–vehicle accidents, leading to loss of animal lives, human injuries, and property damage.</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Most existing wildlife monitoring methods rely on manual observation or periodic surveys, which cannot provide continuous real-time detection of animals near roads.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Conventional camera traps only record data but require manual inspection of footage, making the process time-consuming, labor-intensive, and prone to human error.</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Environmental factors such as moving leaves, shadows, rain, and vehicles often trigger false alerts, reducing system reliability and trustworthiness.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Current systems do not provide instant alerts to road users and forest officials, resulting in delayed reactions and increased risk of accidents and animal fatalities.</a:t>
            </a:r>
            <a:endParaRPr lang="zh-CN" altLang="en-US" sz="24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1109166162"/>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7" name="文本框"/>
          <p:cNvSpPr>
            <a:spLocks noGrp="1"/>
          </p:cNvSpPr>
          <p:nvPr>
            <p:ph type="title"/>
          </p:nvPr>
        </p:nvSpPr>
        <p:spPr>
          <a:xfrm rot="0">
            <a:off x="551543" y="0"/>
            <a:ext cx="11146971" cy="580571"/>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Abstract</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28" name="文本框"/>
          <p:cNvSpPr>
            <a:spLocks noGrp="1"/>
          </p:cNvSpPr>
          <p:nvPr>
            <p:ph type="body" idx="1"/>
          </p:nvPr>
        </p:nvSpPr>
        <p:spPr>
          <a:xfrm rot="0">
            <a:off x="551543" y="757093"/>
            <a:ext cx="11146971" cy="5805054"/>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Wildlife crossing the road represent a life-threatening and common problem in many countries worldwide Traditionally, wildlife monitoring has relied on manual efforts, which can be time-consuming, costly and limited in scope. </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just">
              <a:lnSpc>
                <a:spcPct val="90000"/>
              </a:lnSpc>
              <a:spcBef>
                <a:spcPts val="1000"/>
              </a:spcBef>
              <a:spcAft>
                <a:spcPts val="0"/>
              </a:spcAft>
              <a:buFont typeface="Arial" pitchFamily="34" charset="0"/>
              <a:buChar char="•"/>
            </a:pP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AI-powered solutions have significantly enhanced wildlife monitoring capabilities, enabling real-time data collection and analysis for more extensive coverage and greater accuracy.</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just">
              <a:lnSpc>
                <a:spcPct val="90000"/>
              </a:lnSpc>
              <a:spcBef>
                <a:spcPts val="1000"/>
              </a:spcBef>
              <a:spcAft>
                <a:spcPts val="0"/>
              </a:spcAft>
              <a:buFont typeface="Arial" pitchFamily="34" charset="0"/>
              <a:buChar char="•"/>
            </a:pP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The aim of the project is to design and design and develop AI-powered camera traps can identify and classify species from Video frames making it easier to monitor wildlife and detect rare or endangered species while crossing the roads and sent reliable early warning alert to the ranger and roadways population. </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just">
              <a:lnSpc>
                <a:spcPct val="90000"/>
              </a:lnSpc>
              <a:spcBef>
                <a:spcPts val="1000"/>
              </a:spcBef>
              <a:spcAft>
                <a:spcPts val="0"/>
              </a:spcAft>
              <a:buFont typeface="Arial" pitchFamily="34" charset="0"/>
              <a:buChar char="•"/>
            </a:pP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AI algorithms Temporal Convolutional Network(TCN) can distinguish between animals and non-target objects.</a:t>
            </a:r>
            <a:endParaRPr lang="zh-CN" altLang="en-US" sz="2400" b="0" i="0" u="none" strike="noStrike" kern="1200" cap="none" spc="0" baseline="0">
              <a:solidFill>
                <a:schemeClr val="tx1"/>
              </a:solidFill>
              <a:latin typeface="Cambria" pitchFamily="18" charset="0"/>
              <a:ea typeface="Cambria" pitchFamily="18" charset="0"/>
              <a:cs typeface="Times New Roman" pitchFamily="18" charset="0"/>
            </a:endParaRPr>
          </a:p>
        </p:txBody>
      </p:sp>
    </p:spTree>
    <p:extLst>
      <p:ext uri="{BB962C8B-B14F-4D97-AF65-F5344CB8AC3E}">
        <p14:creationId xmlns:p14="http://schemas.microsoft.com/office/powerpoint/2010/main" val="443037422"/>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9" name="文本框"/>
          <p:cNvSpPr>
            <a:spLocks noGrp="1"/>
          </p:cNvSpPr>
          <p:nvPr>
            <p:ph type="title"/>
          </p:nvPr>
        </p:nvSpPr>
        <p:spPr>
          <a:xfrm rot="0">
            <a:off x="551543" y="0"/>
            <a:ext cx="11146971" cy="580571"/>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Introduction</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30" name="文本框"/>
          <p:cNvSpPr>
            <a:spLocks noGrp="1"/>
          </p:cNvSpPr>
          <p:nvPr>
            <p:ph type="body" idx="1"/>
          </p:nvPr>
        </p:nvSpPr>
        <p:spPr>
          <a:xfrm rot="0">
            <a:off x="551543" y="757093"/>
            <a:ext cx="11146971" cy="5805054"/>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79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Background</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Wildlife crossing roads causes frequent accidents, and traditional monitoring methods are slow and manual.</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Motivation</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There is a need for an automated system that can detect animals in real time and warn people before accidents happen.</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Objective</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To develop an AI-based system that detects and classifies animals from video frames and sends early warning alerts.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Outcome</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79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The system helps reduce wildlife–vehicle collisions and improves safety for both animals and road users.</a:t>
            </a:r>
            <a:endParaRPr lang="zh-CN" altLang="en-US" sz="24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1176465158"/>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1" name="文本框"/>
          <p:cNvSpPr>
            <a:spLocks noGrp="1"/>
          </p:cNvSpPr>
          <p:nvPr>
            <p:ph type="title"/>
          </p:nvPr>
        </p:nvSpPr>
        <p:spPr>
          <a:xfrm rot="0">
            <a:off x="522514" y="0"/>
            <a:ext cx="11190515"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 Aim and Objective</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32" name="文本框"/>
          <p:cNvSpPr>
            <a:spLocks noGrp="1"/>
          </p:cNvSpPr>
          <p:nvPr>
            <p:ph type="body" idx="1"/>
          </p:nvPr>
        </p:nvSpPr>
        <p:spPr>
          <a:xfrm rot="0">
            <a:off x="522514" y="914399"/>
            <a:ext cx="11176000" cy="5384801"/>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100000"/>
              </a:lnSpc>
              <a:spcBef>
                <a:spcPts val="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Aim</a:t>
            </a:r>
            <a:endParaRPr lang="en-US" altLang="zh-CN" sz="2400" b="1" i="0" u="none" strike="noStrike" kern="1200" cap="none" spc="0" baseline="0">
              <a:solidFill>
                <a:schemeClr val="tx1"/>
              </a:solidFill>
              <a:latin typeface="Cambria" pitchFamily="18" charset="0"/>
              <a:ea typeface="Cambria" pitchFamily="18" charset="0"/>
              <a:cs typeface="Times New Roman" pitchFamily="18" charset="0"/>
            </a:endParaRPr>
          </a:p>
          <a:p>
            <a:pPr marL="0" indent="0" algn="just">
              <a:lnSpc>
                <a:spcPct val="100000"/>
              </a:lnSpc>
              <a:spcBef>
                <a:spcPts val="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The aim of the project is to address the life-threatening issue of wildlife crossing roads by leveraging AI-powered camera traps and Temporal Convolution Network algorithms. The primary focus is on enhancing the efficiency of wildlife monitoring, detecting rare and endangered species during road crossings, and issuing early warnings to ensure the safety of both wildlife and the human population.</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0" indent="0" algn="just">
              <a:lnSpc>
                <a:spcPct val="100000"/>
              </a:lnSpc>
              <a:spcBef>
                <a:spcPts val="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Objective</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lvl="1" marL="800100" indent="-342900" algn="just">
              <a:lnSpc>
                <a:spcPct val="100000"/>
              </a:lnSpc>
              <a:spcBef>
                <a:spcPts val="0"/>
              </a:spcBef>
              <a:spcAft>
                <a:spcPts val="0"/>
              </a:spcAft>
              <a:buFont typeface="Symbol" pitchFamily="18" charset="2"/>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To develop AI-powered camera traps for real-time wildlife monitoring.</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lvl="1" marL="800100" indent="-342900" algn="just">
              <a:lnSpc>
                <a:spcPct val="100000"/>
              </a:lnSpc>
              <a:spcBef>
                <a:spcPts val="0"/>
              </a:spcBef>
              <a:spcAft>
                <a:spcPts val="0"/>
              </a:spcAft>
              <a:buFont typeface="Symbol" pitchFamily="18" charset="2"/>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To implement AI algorithms, especially TCN, for accurate species identification.</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lvl="1" marL="800100" indent="-342900" algn="just">
              <a:lnSpc>
                <a:spcPct val="100000"/>
              </a:lnSpc>
              <a:spcBef>
                <a:spcPts val="0"/>
              </a:spcBef>
              <a:spcAft>
                <a:spcPts val="0"/>
              </a:spcAft>
              <a:buFont typeface="Symbol" pitchFamily="18" charset="2"/>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To establish an early warning system to reduce false positives and issue alerts.</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lvl="1" marL="800100" indent="-342900" algn="just">
              <a:lnSpc>
                <a:spcPct val="100000"/>
              </a:lnSpc>
              <a:spcBef>
                <a:spcPts val="0"/>
              </a:spcBef>
              <a:spcAft>
                <a:spcPts val="0"/>
              </a:spcAft>
              <a:buFont typeface="Symbol" pitchFamily="18" charset="2"/>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To minimize manual efforts by relying on automated AI-powered monitoring.</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lvl="1" marL="800100" indent="-342900" algn="just">
              <a:lnSpc>
                <a:spcPct val="100000"/>
              </a:lnSpc>
              <a:spcBef>
                <a:spcPts val="0"/>
              </a:spcBef>
              <a:spcAft>
                <a:spcPts val="0"/>
              </a:spcAft>
              <a:buFont typeface="Symbol" pitchFamily="18" charset="2"/>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To send early warnings to rangers and passersby through SMS in real-time.</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lvl="1" marL="800100" indent="-342900" algn="just">
              <a:lnSpc>
                <a:spcPct val="100000"/>
              </a:lnSpc>
              <a:spcBef>
                <a:spcPts val="0"/>
              </a:spcBef>
              <a:spcAft>
                <a:spcPts val="0"/>
              </a:spcAft>
              <a:buFont typeface="Symbol" pitchFamily="18" charset="2"/>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To focus on rare and endangered species detection during road crossings.</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lvl="1" marL="800100" indent="-342900" algn="just">
              <a:lnSpc>
                <a:spcPct val="100000"/>
              </a:lnSpc>
              <a:spcBef>
                <a:spcPts val="0"/>
              </a:spcBef>
              <a:spcAft>
                <a:spcPts val="0"/>
              </a:spcAft>
              <a:buFont typeface="Symbol" pitchFamily="18" charset="2"/>
              <a:buChar char=""/>
            </a:pP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To enhance road safety by proactively addressing wildlife-related threats.</a:t>
            </a:r>
            <a:endParaRPr lang="zh-CN" altLang="en-US" sz="2400" b="0" i="0" u="none" strike="noStrike" kern="1200" cap="none" spc="0" baseline="0">
              <a:solidFill>
                <a:schemeClr val="tx1"/>
              </a:solidFill>
              <a:latin typeface="Cambria" pitchFamily="18" charset="0"/>
              <a:ea typeface="Cambria" pitchFamily="18" charset="0"/>
              <a:cs typeface="Times New Roman" pitchFamily="18" charset="0"/>
            </a:endParaRPr>
          </a:p>
        </p:txBody>
      </p:sp>
    </p:spTree>
    <p:extLst>
      <p:ext uri="{BB962C8B-B14F-4D97-AF65-F5344CB8AC3E}">
        <p14:creationId xmlns:p14="http://schemas.microsoft.com/office/powerpoint/2010/main" val="2001104241"/>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3" name="文本框"/>
          <p:cNvSpPr>
            <a:spLocks noGrp="1"/>
          </p:cNvSpPr>
          <p:nvPr>
            <p:ph type="title"/>
          </p:nvPr>
        </p:nvSpPr>
        <p:spPr>
          <a:xfrm rot="0">
            <a:off x="522514" y="0"/>
            <a:ext cx="11190515"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Literature Survey</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graphicFrame>
        <p:nvGraphicFramePr>
          <p:cNvPr id="34" name="Table"/>
          <p:cNvGraphicFramePr>
            <a:graphicFrameLocks noGrp="1"/>
          </p:cNvGraphicFramePr>
          <p:nvPr>
            <p:ph type="body" idx="1"/>
            <p:extLst>
              <p:ext uri="{D42A27DB-BD31-4B8C-83A1-F6EECF244321}"/>
            </p:extLst>
          </p:nvPr>
        </p:nvGraphicFramePr>
        <p:xfrm>
          <a:off x="522514" y="624842"/>
          <a:ext cx="11190517" cy="6044312"/>
        </p:xfrm>
        <a:graphic>
          <a:graphicData uri="http://schemas.openxmlformats.org/drawingml/2006/table">
            <a:tbl>
              <a:tblPr bandRow="1">
                <a:gradFill>
                  <a:gsLst>
                    <a:gs pos="0">
                      <a:srgbClr val="B7D3AB"/>
                    </a:gs>
                    <a:gs pos="50000">
                      <a:srgbClr val="ABCC9C"/>
                    </a:gs>
                    <a:gs pos="100000">
                      <a:srgbClr val="9DC68A"/>
                    </a:gs>
                  </a:gsLst>
                  <a:lin ang="5400000" scaled="1"/>
                </a:gradFill>
              </a:tblPr>
              <a:tblGrid>
                <a:gridCol w="879538"/>
                <a:gridCol w="2270734"/>
                <a:gridCol w="1737334"/>
                <a:gridCol w="2316454"/>
                <a:gridCol w="2121230"/>
                <a:gridCol w="1865058"/>
              </a:tblGrid>
              <a:tr h="304404">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S.No</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Paper Title</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Author(s), Year</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Methodology</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Merits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Demerits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r>
              <a:tr h="1207475">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1</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Real-Time Wildlife Detection Using Deep Learning</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A. Mughal, R. Khan, A. Rehman, 2025</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YOLO-based CNN model for real-time wildlife detection from video frames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High detection accuracy, supports real-time processing</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Performance drops in low-light and foggy conditions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r>
              <a:tr h="1180891">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2</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Intelligent Wildlife Monitoring System Using AI</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S. Li, H. Zhang, F. Xu, 2024</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Improved YOLO architecture with feature optimization for animal detection</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Reduced false positives, better background separation</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Computationally expensive for edge devices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r>
              <a:tr h="1026865">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3</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Automated Animal Classification Using Camera Trap Images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C. Chalmers et al., 2023</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Faster-RCNN model trained on camera trap datasets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High classification accuracy, reduces manual effort</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Works mainly on still images, not optimized for video</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r>
              <a:tr h="846245">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4</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Deep Learning Based Wildlife Detection and Alert System</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K. Li, Y. Wang, Z. Chen, 2024</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CNN model with cloud-based processing and alert generation</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Good for rare species detection, scalable system</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Requires continuous internet connectivity</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r>
              <a:tr h="846245">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5</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Explainable AI for Wildlife Image Classification</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G. Moallem et al., 2023</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Two-stage CNN with explainable AI (Grad-CAM)</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Improves model transparency and trust</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Not suitable for real-time roadside deployment</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r>
              <a:tr h="1011053">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6</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Vision-Based Animal Detection for Road Safety</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R. Kumar, P. Singh, 2024</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Transfer learning with ResNet and MobileNet models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Lightweight model, suitable for embedded devices</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c>
                  <a:txBody>
                    <a:bodyPr/>
                    <a:lstStyle/>
                    <a:p>
                      <a:pPr marL="0" indent="0" algn="l" eaLnBrk="1" latinLnBrk="0" hangingPunct="1">
                        <a:lnSpc>
                          <a:spcPct val="100000"/>
                        </a:lnSpc>
                        <a:spcBef>
                          <a:spcPts val="0"/>
                        </a:spcBef>
                        <a:spcAft>
                          <a:spcPts val="0"/>
                        </a:spcAft>
                        <a:buNone/>
                      </a:pPr>
                      <a:r>
                        <a:rPr lang="en-US" altLang="zh-CN" sz="1600" b="0" i="0" u="none" strike="noStrike" kern="1200" cap="none" spc="0" baseline="0">
                          <a:solidFill>
                            <a:srgbClr val="000000"/>
                          </a:solidFill>
                          <a:latin typeface="Cambria" pitchFamily="18" charset="0"/>
                          <a:ea typeface="Cambria" pitchFamily="18" charset="0"/>
                          <a:cs typeface="Calibri" pitchFamily="0" charset="0"/>
                        </a:rPr>
                        <a:t>Limited species classification capability</a:t>
                      </a:r>
                      <a:endParaRPr lang="zh-CN" altLang="en-US" sz="1600" b="0" i="0" u="none" strike="noStrike" kern="1200" cap="none" spc="0" baseline="0">
                        <a:solidFill>
                          <a:srgbClr val="000000"/>
                        </a:solidFill>
                        <a:latin typeface="Cambria" pitchFamily="18" charset="0"/>
                        <a:ea typeface="Cambria" pitchFamily="18" charset="0"/>
                        <a:cs typeface="Calibri" pitchFamily="0" charset="0"/>
                      </a:endParaRPr>
                    </a:p>
                  </a:txBody>
                  <a:tcPr marL="57277" marT="28625" marR="57277" marB="28625" vert="horz" anchor="ctr">
                    <a:lnL w="6350">
                      <a:solidFill>
                        <a:srgbClr val="70AD47"/>
                      </a:solidFill>
                      <a:prstDash val="solid"/>
                      <a:headEnd type="none" w="med" len="med"/>
                      <a:tailEnd type="none" w="med" len="med"/>
                    </a:lnL>
                    <a:lnR w="6350">
                      <a:solidFill>
                        <a:srgbClr val="70AD47"/>
                      </a:solidFill>
                      <a:prstDash val="solid"/>
                      <a:headEnd type="none" w="med" len="med"/>
                      <a:tailEnd type="none" w="med" len="med"/>
                    </a:lnR>
                    <a:lnT w="6350">
                      <a:solidFill>
                        <a:srgbClr val="70AD47"/>
                      </a:solidFill>
                      <a:prstDash val="solid"/>
                      <a:headEnd type="none" w="med" len="med"/>
                      <a:tailEnd type="none" w="med" len="med"/>
                    </a:lnT>
                    <a:lnB w="6350">
                      <a:solidFill>
                        <a:srgbClr val="70AD47"/>
                      </a:solidFill>
                      <a:prstDash val="solid"/>
                      <a:headEnd type="none" w="med" len="med"/>
                      <a:tailEnd type="none" w="med" len="med"/>
                    </a:lnB>
                  </a:tcPr>
                </a:tc>
              </a:tr>
            </a:tbl>
          </a:graphicData>
        </a:graphic>
      </p:graphicFrame>
    </p:spTree>
    <p:extLst>
      <p:ext uri="{BB962C8B-B14F-4D97-AF65-F5344CB8AC3E}">
        <p14:creationId xmlns:p14="http://schemas.microsoft.com/office/powerpoint/2010/main" val="1482920717"/>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5" name="文本框"/>
          <p:cNvSpPr>
            <a:spLocks noGrp="1"/>
          </p:cNvSpPr>
          <p:nvPr>
            <p:ph type="title"/>
          </p:nvPr>
        </p:nvSpPr>
        <p:spPr>
          <a:xfrm rot="0">
            <a:off x="522514" y="0"/>
            <a:ext cx="11190515"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3200" b="1" i="0" u="none" strike="noStrike" kern="1200" cap="none" spc="0" baseline="0">
                <a:solidFill>
                  <a:schemeClr val="tx1"/>
                </a:solidFill>
                <a:latin typeface="Cambria" pitchFamily="18" charset="0"/>
                <a:ea typeface="Cambria" pitchFamily="18" charset="0"/>
                <a:cs typeface="Lucida Sans" pitchFamily="0" charset="0"/>
              </a:rPr>
              <a:t>Summary of Related IEEE Papers</a:t>
            </a:r>
            <a:endParaRPr lang="zh-CN" altLang="en-US" sz="3200" b="1" i="0" u="none" strike="noStrike" kern="1200" cap="none" spc="0" baseline="0">
              <a:solidFill>
                <a:schemeClr val="tx1"/>
              </a:solidFill>
              <a:latin typeface="Cambria" pitchFamily="18" charset="0"/>
              <a:ea typeface="Cambria" pitchFamily="18" charset="0"/>
              <a:cs typeface="Lucida Sans" pitchFamily="0" charset="0"/>
            </a:endParaRPr>
          </a:p>
        </p:txBody>
      </p:sp>
      <p:sp>
        <p:nvSpPr>
          <p:cNvPr id="36" name="文本框"/>
          <p:cNvSpPr>
            <a:spLocks noGrp="1"/>
          </p:cNvSpPr>
          <p:nvPr>
            <p:ph type="body" idx="1"/>
          </p:nvPr>
        </p:nvSpPr>
        <p:spPr>
          <a:xfrm rot="0">
            <a:off x="537029" y="757093"/>
            <a:ext cx="11176000" cy="5384801"/>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Recent IEEE papers use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deep learning models (YOLO, CNNs)</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for detecting wildlife from camera trap images and videos.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These systems provide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real-time or near real-time monitoring</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and improve detection accuracy compared to manual methods.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Research shows that AI can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reduce false positives</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by distinguishing animals from background objects like trees and shadows.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Some studies focus on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species classification</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while others emphasize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road safety and accident prevention</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Limitations found in existing works include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poor performance in low light</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occlusion</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and </a:t>
            </a:r>
            <a:r>
              <a:rPr lang="en-US" altLang="zh-CN" sz="2400" b="1" i="0" u="none" strike="noStrike" kern="1200" cap="none" spc="0" baseline="0">
                <a:solidFill>
                  <a:schemeClr val="tx1"/>
                </a:solidFill>
                <a:latin typeface="Cambria" pitchFamily="18" charset="0"/>
                <a:ea typeface="Cambria" pitchFamily="18" charset="0"/>
                <a:cs typeface="Lucida Sans" pitchFamily="0" charset="0"/>
              </a:rPr>
              <a:t>high computational cost</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for field deployment.</a:t>
            </a:r>
            <a:endParaRPr lang="zh-CN" altLang="en-US" sz="24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2057173127"/>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7" name="文本框"/>
          <p:cNvSpPr>
            <a:spLocks noGrp="1"/>
          </p:cNvSpPr>
          <p:nvPr>
            <p:ph type="title"/>
          </p:nvPr>
        </p:nvSpPr>
        <p:spPr>
          <a:xfrm rot="0">
            <a:off x="551544" y="14514"/>
            <a:ext cx="11132457"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System Architecture</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pic>
        <p:nvPicPr>
          <p:cNvPr id="38" name="图片"/>
          <p:cNvPicPr>
            <a:picLocks noChangeAspect="1"/>
          </p:cNvPicPr>
          <p:nvPr/>
        </p:nvPicPr>
        <p:blipFill>
          <a:blip r:embed="rId1" cstate="print"/>
          <a:srcRect t="6709" r="2283"/>
          <a:stretch>
            <a:fillRect/>
          </a:stretch>
        </p:blipFill>
        <p:spPr>
          <a:xfrm rot="0">
            <a:off x="1828800" y="899885"/>
            <a:ext cx="8708570" cy="5762171"/>
          </a:xfrm>
          <a:prstGeom prst="rect"/>
          <a:noFill/>
          <a:ln w="12700" cmpd="sng" cap="flat">
            <a:noFill/>
            <a:prstDash val="solid"/>
            <a:miter/>
          </a:ln>
        </p:spPr>
      </p:pic>
    </p:spTree>
    <p:extLst>
      <p:ext uri="{BB962C8B-B14F-4D97-AF65-F5344CB8AC3E}">
        <p14:creationId xmlns:p14="http://schemas.microsoft.com/office/powerpoint/2010/main" val="683678315"/>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39" name="文本框"/>
          <p:cNvSpPr>
            <a:spLocks noGrp="1"/>
          </p:cNvSpPr>
          <p:nvPr>
            <p:ph type="title"/>
          </p:nvPr>
        </p:nvSpPr>
        <p:spPr>
          <a:xfrm rot="0">
            <a:off x="551544" y="14514"/>
            <a:ext cx="11132457"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Tools and Technologies </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40" name="文本框"/>
          <p:cNvSpPr>
            <a:spLocks noGrp="1"/>
          </p:cNvSpPr>
          <p:nvPr>
            <p:ph type="body" idx="1"/>
          </p:nvPr>
        </p:nvSpPr>
        <p:spPr>
          <a:xfrm rot="0">
            <a:off x="551544" y="943428"/>
            <a:ext cx="11146969" cy="5413829"/>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l">
              <a:lnSpc>
                <a:spcPct val="90000"/>
              </a:lnSpc>
              <a:spcBef>
                <a:spcPts val="1000"/>
              </a:spcBef>
              <a:spcAft>
                <a:spcPts val="0"/>
              </a:spcAft>
              <a:buFont typeface="Arial" pitchFamily="34" charset="0"/>
              <a:buChar char="•"/>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Language</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 Python 3.7.4(64-bit) or (32-bit)</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Web Design</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 HTML, CSS, Bootstrap</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Web Framework</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 Flask 1.1.1</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Database</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 MySQL 5.</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Server</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 </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Wampserver</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2i</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228600" indent="-228600" algn="l">
              <a:lnSpc>
                <a:spcPct val="90000"/>
              </a:lnSpc>
              <a:spcBef>
                <a:spcPts val="1000"/>
              </a:spcBef>
              <a:spcAft>
                <a:spcPts val="0"/>
              </a:spcAft>
              <a:buFont typeface="Arial" pitchFamily="34" charset="0"/>
              <a:buChar char="•"/>
            </a:pPr>
            <a:r>
              <a:rPr lang="en-US" altLang="zh-CN" sz="2400" b="1" i="0" u="none" strike="noStrike" kern="1200" cap="none" spc="0" baseline="0">
                <a:solidFill>
                  <a:schemeClr val="tx1"/>
                </a:solidFill>
                <a:latin typeface="Cambria" pitchFamily="18" charset="0"/>
                <a:ea typeface="Cambria" pitchFamily="18" charset="0"/>
                <a:cs typeface="Times New Roman" pitchFamily="18" charset="0"/>
              </a:rPr>
              <a:t>Packages	</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 </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TensorFlow</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Keras</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Pandas, </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Sickit</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 Learn, </a:t>
            </a:r>
            <a:r>
              <a:rPr lang="en-US" altLang="zh-CN" sz="2400" b="0" i="0" u="none" strike="noStrike" kern="1200" cap="none" spc="0" baseline="0">
                <a:solidFill>
                  <a:schemeClr val="tx1"/>
                </a:solidFill>
                <a:latin typeface="Cambria" pitchFamily="18" charset="0"/>
                <a:ea typeface="Cambria" pitchFamily="18" charset="0"/>
                <a:cs typeface="Times New Roman" pitchFamily="18" charset="0"/>
              </a:rPr>
              <a:t>Matplotlib</a:t>
            </a:r>
            <a:endParaRPr lang="en-US" altLang="zh-CN" sz="2400" b="0" i="0" u="none" strike="noStrike" kern="1200" cap="none" spc="0" baseline="0">
              <a:solidFill>
                <a:schemeClr val="tx1"/>
              </a:solidFill>
              <a:latin typeface="Cambria" pitchFamily="18" charset="0"/>
              <a:ea typeface="Cambria" pitchFamily="18" charset="0"/>
              <a:cs typeface="Times New Roman" pitchFamily="18" charset="0"/>
            </a:endParaRPr>
          </a:p>
          <a:p>
            <a:pPr marL="342900" indent="-342900" algn="just">
              <a:lnSpc>
                <a:spcPct val="150000"/>
              </a:lnSpc>
              <a:spcBef>
                <a:spcPts val="1000"/>
              </a:spcBef>
              <a:spcAft>
                <a:spcPts val="0"/>
              </a:spcAft>
              <a:buFont typeface="Symbol" pitchFamily="18" charset="2"/>
              <a:buChar char=""/>
            </a:pPr>
            <a:endParaRPr lang="zh-CN" altLang="en-US" sz="2400" b="0" i="0" u="none" strike="noStrike" kern="1200" cap="none" spc="0" baseline="0">
              <a:solidFill>
                <a:schemeClr val="tx1"/>
              </a:solidFill>
              <a:latin typeface="Cambria" pitchFamily="18" charset="0"/>
              <a:ea typeface="Cambria" pitchFamily="18" charset="0"/>
              <a:cs typeface="Times New Roman" pitchFamily="18" charset="0"/>
            </a:endParaRPr>
          </a:p>
        </p:txBody>
      </p:sp>
    </p:spTree>
    <p:extLst>
      <p:ext uri="{BB962C8B-B14F-4D97-AF65-F5344CB8AC3E}">
        <p14:creationId xmlns:p14="http://schemas.microsoft.com/office/powerpoint/2010/main" val="656755076"/>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1" name="文本框"/>
          <p:cNvSpPr>
            <a:spLocks noGrp="1"/>
          </p:cNvSpPr>
          <p:nvPr>
            <p:ph type="title"/>
          </p:nvPr>
        </p:nvSpPr>
        <p:spPr>
          <a:xfrm rot="0">
            <a:off x="551544" y="14514"/>
            <a:ext cx="11132457"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Existing System</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42" name="文本框"/>
          <p:cNvSpPr>
            <a:spLocks noGrp="1"/>
          </p:cNvSpPr>
          <p:nvPr>
            <p:ph type="body" idx="1"/>
          </p:nvPr>
        </p:nvSpPr>
        <p:spPr>
          <a:xfrm rot="0">
            <a:off x="551544" y="771607"/>
            <a:ext cx="11146969" cy="5413829"/>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 Manual Monitoring</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Wildlife near roads is monitored by forest staff or volunteers through patrolling and visual observation. </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Traditional Camera Traps</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Camera traps are installed near forest areas to capture animal images or videos. </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Sensor-Based Systems</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Infrared or motion sensors are used to detect animal movement near roads. These sensors detect motion but cannot identify animal type, leading to many false alarms.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zh-CN" altLang="en-US" sz="2400" b="1"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1810422148"/>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3" name="文本框"/>
          <p:cNvSpPr>
            <a:spLocks noGrp="1"/>
          </p:cNvSpPr>
          <p:nvPr>
            <p:ph type="title"/>
          </p:nvPr>
        </p:nvSpPr>
        <p:spPr>
          <a:xfrm rot="0">
            <a:off x="551544" y="14514"/>
            <a:ext cx="11132457"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Drawbacks</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44" name="文本框"/>
          <p:cNvSpPr>
            <a:spLocks noGrp="1"/>
          </p:cNvSpPr>
          <p:nvPr>
            <p:ph type="body" idx="1"/>
          </p:nvPr>
        </p:nvSpPr>
        <p:spPr>
          <a:xfrm rot="0">
            <a:off x="551544" y="771607"/>
            <a:ext cx="11146969" cy="5413829"/>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No real-time animal detection</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High false alarm rate</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Requires continuous human involvement</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Time-consuming data analysis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Cannot identify animal species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Expensive maintenance</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Limited coverage area</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Poor performance at night or bad weather</a:t>
            </a:r>
            <a:endParaRPr lang="zh-CN" altLang="en-US" sz="24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975450089"/>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5" name="文本框"/>
          <p:cNvSpPr>
            <a:spLocks noGrp="1"/>
          </p:cNvSpPr>
          <p:nvPr>
            <p:ph type="title"/>
          </p:nvPr>
        </p:nvSpPr>
        <p:spPr>
          <a:xfrm rot="0">
            <a:off x="551544" y="14514"/>
            <a:ext cx="11132457"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Proposed System</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46" name="文本框"/>
          <p:cNvSpPr>
            <a:spLocks noGrp="1"/>
          </p:cNvSpPr>
          <p:nvPr>
            <p:ph type="body" idx="1"/>
          </p:nvPr>
        </p:nvSpPr>
        <p:spPr>
          <a:xfrm rot="0">
            <a:off x="551544" y="626465"/>
            <a:ext cx="11132457" cy="5963021"/>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AI-Based Animal Detection</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Video frames captured from roadside cameras are processed using a trained deep learning model (</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WildNet</a:t>
            </a:r>
            <a:r>
              <a:rPr lang="en-US" altLang="zh-CN" sz="2400" b="0" i="0" u="none" strike="noStrike" kern="1200" cap="none" spc="0" baseline="0">
                <a:solidFill>
                  <a:schemeClr val="tx1"/>
                </a:solidFill>
                <a:latin typeface="Cambria" pitchFamily="18" charset="0"/>
                <a:ea typeface="Cambria" pitchFamily="18" charset="0"/>
                <a:cs typeface="Lucida Sans" pitchFamily="0" charset="0"/>
              </a:rPr>
              <a:t>) to detect the presence of animals and classify them into species categories.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Temporal Verification </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A Temporal Convolutional Neural Network (TCNN) verifies detections across multiple frames to reduce false positives caused by shadows, vehicles, or vegetation movement.</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Alert and Communication </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When an animal crossing is confirmed, the system automatically triggers an alert and sends warning messages to nearby road users and forest authorities through SMS.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Cambria" pitchFamily="18" charset="0"/>
                <a:ea typeface="Cambria" pitchFamily="18" charset="0"/>
                <a:cs typeface="Lucida Sans" pitchFamily="0" charset="0"/>
              </a:rPr>
              <a:t> Data Storage and Monitoring</a:t>
            </a:r>
            <a:endParaRPr lang="en-US" altLang="zh-CN" sz="2400" b="1"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All detected animal data, time, and location details are stored in a cloud database and displayed on a monitoring dashboard for analysis and decision-making.</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zh-CN" altLang="en-US" sz="24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1598353993"/>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7" name="文本框"/>
          <p:cNvSpPr>
            <a:spLocks noGrp="1"/>
          </p:cNvSpPr>
          <p:nvPr>
            <p:ph type="title"/>
          </p:nvPr>
        </p:nvSpPr>
        <p:spPr>
          <a:xfrm rot="0">
            <a:off x="551544" y="14514"/>
            <a:ext cx="11132457" cy="757093"/>
          </a:xfrm>
          <a:prstGeom prst="rect"/>
          <a:noFill/>
          <a:ln w="12700" cmpd="sng" cap="flat">
            <a:noFill/>
            <a:prstDash val="solid"/>
            <a:miter/>
          </a:ln>
        </p:spPr>
        <p:txBody>
          <a:bodyPr vert="horz" wrap="square" lIns="91440" tIns="45720" rIns="91440" bIns="45720" anchor="ctr" anchorCtr="0">
            <a:prstTxWarp prst="textNoShape"/>
          </a:bodyPr>
          <a:lstStyle/>
          <a:p>
            <a:pPr marL="0" indent="0" algn="ctr">
              <a:lnSpc>
                <a:spcPct val="90000"/>
              </a:lnSpc>
              <a:spcBef>
                <a:spcPts val="0"/>
              </a:spcBef>
              <a:spcAft>
                <a:spcPts val="0"/>
              </a:spcAft>
              <a:buNone/>
            </a:pPr>
            <a:r>
              <a:rPr lang="en-US" altLang="zh-CN" sz="4000" b="1" i="0" u="none" strike="noStrike" kern="1200" cap="none" spc="0" baseline="0">
                <a:solidFill>
                  <a:schemeClr val="tx1"/>
                </a:solidFill>
                <a:latin typeface="Cambria" pitchFamily="18" charset="0"/>
                <a:ea typeface="Cambria" pitchFamily="18" charset="0"/>
                <a:cs typeface="Times New Roman" pitchFamily="18" charset="0"/>
              </a:rPr>
              <a:t>Advantages</a:t>
            </a:r>
            <a:endParaRPr lang="zh-CN" altLang="en-US" sz="4000" b="1" i="0" u="none" strike="noStrike" kern="1200" cap="none" spc="0" baseline="0">
              <a:solidFill>
                <a:schemeClr val="tx1"/>
              </a:solidFill>
              <a:latin typeface="Cambria" pitchFamily="18" charset="0"/>
              <a:ea typeface="Cambria" pitchFamily="18" charset="0"/>
              <a:cs typeface="Times New Roman" pitchFamily="18" charset="0"/>
            </a:endParaRPr>
          </a:p>
        </p:txBody>
      </p:sp>
      <p:sp>
        <p:nvSpPr>
          <p:cNvPr id="48" name="文本框"/>
          <p:cNvSpPr>
            <a:spLocks noGrp="1"/>
          </p:cNvSpPr>
          <p:nvPr>
            <p:ph type="body" idx="1"/>
          </p:nvPr>
        </p:nvSpPr>
        <p:spPr>
          <a:xfrm rot="0">
            <a:off x="551544" y="771607"/>
            <a:ext cx="11146969" cy="5413829"/>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Reduces wildlife–vehicle accidents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Provides real-time early warning</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Minimizes human effort</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Helps protect endangered species</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Improves road safety</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Supports conservation research</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Works continuously (24/7)</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Cost-effective in the long term</a:t>
            </a:r>
            <a:endParaRPr lang="en-US" altLang="zh-CN" sz="24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400" b="0" i="0" u="none" strike="noStrike" kern="1200" cap="none" spc="0" baseline="0">
                <a:solidFill>
                  <a:schemeClr val="tx1"/>
                </a:solidFill>
                <a:latin typeface="Cambria" pitchFamily="18" charset="0"/>
                <a:ea typeface="Cambria" pitchFamily="18" charset="0"/>
                <a:cs typeface="Lucida Sans" pitchFamily="0" charset="0"/>
              </a:rPr>
              <a:t>Easy to scale to new locations</a:t>
            </a:r>
            <a:endParaRPr lang="zh-CN" altLang="en-US" sz="24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806692713"/>
      </p:ext>
    </p:extLst>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49"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Modules List</a:t>
            </a:r>
            <a:endParaRPr lang="zh-CN" altLang="en-US" sz="3600" b="1" i="0" u="none" strike="noStrike" kern="0" cap="none" spc="0" baseline="0">
              <a:solidFill>
                <a:srgbClr val="000000"/>
              </a:solidFill>
              <a:latin typeface="Times New Roman" pitchFamily="18" charset="0"/>
              <a:ea typeface="Times New Roman" pitchFamily="18" charset="0"/>
              <a:cs typeface="Times New Roman" pitchFamily="18" charset="0"/>
              <a:sym typeface="Times New Roman" pitchFamily="18" charset="0"/>
            </a:endParaRPr>
          </a:p>
        </p:txBody>
      </p:sp>
      <p:sp>
        <p:nvSpPr>
          <p:cNvPr id="50"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228600" indent="-457200" algn="just">
              <a:lnSpc>
                <a:spcPct val="90000"/>
              </a:lnSpc>
              <a:spcBef>
                <a:spcPts val="1000"/>
              </a:spcBef>
              <a:spcAft>
                <a:spcPts val="0"/>
              </a:spcAft>
              <a:buSzPct val="100000"/>
              <a:buFontTx/>
              <a:buAutoNum type="arabicPeriod"/>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Wildlife Defense Web Control Panel</a:t>
            </a:r>
            <a:endParaRPr lang="en-US" altLang="zh-CN" sz="2800" b="1"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457200" algn="just">
              <a:lnSpc>
                <a:spcPct val="90000"/>
              </a:lnSpc>
              <a:spcBef>
                <a:spcPts val="1000"/>
              </a:spcBef>
              <a:spcAft>
                <a:spcPts val="0"/>
              </a:spcAft>
              <a:buSzPct val="100000"/>
              <a:buFontTx/>
              <a:buAutoNum type="arabicPeriod"/>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End User Interface</a:t>
            </a:r>
            <a:endParaRPr lang="en-US" altLang="zh-CN" sz="2800" b="1" i="0" u="none" strike="noStrike" kern="1200" cap="none" spc="0" baseline="0">
              <a:solidFill>
                <a:schemeClr val="tx1"/>
              </a:solidFill>
              <a:latin typeface="Times New Roman" pitchFamily="18" charset="0"/>
              <a:ea typeface="等线" pitchFamily="0" charset="0"/>
              <a:cs typeface="Times New Roman" pitchFamily="18" charset="0"/>
            </a:endParaRPr>
          </a:p>
          <a:p>
            <a:pPr marL="228600" indent="-457200" algn="just">
              <a:lnSpc>
                <a:spcPct val="90000"/>
              </a:lnSpc>
              <a:spcBef>
                <a:spcPts val="1000"/>
              </a:spcBef>
              <a:spcAft>
                <a:spcPts val="0"/>
              </a:spcAft>
              <a:buSzPct val="100000"/>
              <a:buFontTx/>
              <a:buAutoNum type="arabicPeriod"/>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WildNet</a:t>
            </a: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 Model: Build and Train</a:t>
            </a:r>
            <a:endParaRPr lang="en-US" altLang="zh-CN" sz="2800" b="1" i="0" u="none" strike="noStrike" kern="1200" cap="none" spc="0" baseline="0">
              <a:solidFill>
                <a:schemeClr val="tx1"/>
              </a:solidFill>
              <a:latin typeface="Times New Roman" pitchFamily="18" charset="0"/>
              <a:ea typeface="等线" pitchFamily="0" charset="0"/>
              <a:cs typeface="Times New Roman" pitchFamily="18" charset="0"/>
            </a:endParaRPr>
          </a:p>
          <a:p>
            <a:pPr lvl="1" marL="45720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3.1. Import Dataset</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45720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3.2. Preprocessing</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45720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3.3. Segmentation</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45720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3.4. Feature Extraction</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45720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3.5. Classification</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45720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3.6. </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WildNet</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 Model:Build and Train</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45720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3.7. Deploy Model</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Calibri" pitchFamily="0" charset="0"/>
              <a:ea typeface="等线" pitchFamily="0" charset="0"/>
              <a:cs typeface="Lucida Sans" pitchFamily="0"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Calibri" pitchFamily="0" charset="0"/>
              <a:ea typeface="等线" pitchFamily="0" charset="0"/>
              <a:cs typeface="Lucida Sans" pitchFamily="0" charset="0"/>
            </a:endParaRPr>
          </a:p>
          <a:p>
            <a:pPr marL="514350" indent="-514350" algn="just">
              <a:lnSpc>
                <a:spcPct val="90000"/>
              </a:lnSpc>
              <a:spcBef>
                <a:spcPts val="1000"/>
              </a:spcBef>
              <a:spcAft>
                <a:spcPts val="0"/>
              </a:spcAft>
              <a:buSzPct val="100000"/>
              <a:buFontTx/>
              <a:buAutoNum type="arabicPeriod"/>
            </a:pPr>
            <a:endParaRPr lang="zh-CN" altLang="en-US" sz="28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1323910810"/>
      </p:ext>
    </p:extLst>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3"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Modules List</a:t>
            </a:r>
            <a:endParaRPr lang="zh-CN" altLang="en-US" sz="3600" b="1" i="0" u="none" strike="noStrike" kern="0" cap="none" spc="0" baseline="0">
              <a:solidFill>
                <a:srgbClr val="000000"/>
              </a:solidFill>
              <a:latin typeface="Times New Roman" pitchFamily="18" charset="0"/>
              <a:ea typeface="Times New Roman" pitchFamily="18" charset="0"/>
              <a:cs typeface="Times New Roman" pitchFamily="18" charset="0"/>
              <a:sym typeface="Times New Roman" pitchFamily="18" charset="0"/>
            </a:endParaRPr>
          </a:p>
        </p:txBody>
      </p:sp>
      <p:sp>
        <p:nvSpPr>
          <p:cNvPr id="54"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Times New Roman" pitchFamily="18" charset="0"/>
                <a:ea typeface="等线" pitchFamily="0" charset="0"/>
                <a:cs typeface="Times New Roman" pitchFamily="18" charset="0"/>
              </a:rPr>
              <a:t>4</a:t>
            </a: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a:t>
            </a:r>
            <a:r>
              <a:rPr lang="en-US" altLang="zh-CN" sz="2400" b="1" i="0" u="none" strike="noStrike" kern="1200" cap="none" spc="0" baseline="0">
                <a:solidFill>
                  <a:schemeClr val="tx1"/>
                </a:solidFill>
                <a:latin typeface="Times New Roman" pitchFamily="18" charset="0"/>
                <a:ea typeface="等线" pitchFamily="0" charset="0"/>
                <a:cs typeface="Times New Roman" pitchFamily="18" charset="0"/>
              </a:rPr>
              <a:t>Wild Animal Crossing Predictor</a:t>
            </a:r>
            <a:endParaRPr lang="en-US" altLang="zh-CN" sz="2400" b="1"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4.1. Input Image</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4.2. Live Feed</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4.3. Video</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4.4. Prediction using TCN</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400" b="1" i="0" u="none" strike="noStrike" kern="1200" cap="none" spc="0" baseline="0">
                <a:solidFill>
                  <a:schemeClr val="tx1"/>
                </a:solidFill>
                <a:latin typeface="Times New Roman" pitchFamily="18" charset="0"/>
                <a:ea typeface="等线" pitchFamily="0" charset="0"/>
                <a:cs typeface="Times New Roman" pitchFamily="18" charset="0"/>
              </a:rPr>
              <a:t>5</a:t>
            </a: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a:t>
            </a:r>
            <a:r>
              <a:rPr lang="en-US" altLang="zh-CN" sz="2400" b="1" i="0" u="none" strike="noStrike" kern="1200" cap="none" spc="0" baseline="0">
                <a:solidFill>
                  <a:schemeClr val="tx1"/>
                </a:solidFill>
                <a:latin typeface="Times New Roman" pitchFamily="18" charset="0"/>
                <a:ea typeface="等线" pitchFamily="0" charset="0"/>
                <a:cs typeface="Times New Roman" pitchFamily="18" charset="0"/>
              </a:rPr>
              <a:t>Alert Generator</a:t>
            </a:r>
            <a:endParaRPr lang="en-US" altLang="zh-CN" sz="2400" b="1"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800" b="0" i="0" u="none" strike="noStrike" kern="1200" cap="none" spc="0" baseline="0">
                <a:solidFill>
                  <a:schemeClr val="tx1"/>
                </a:solidFill>
                <a:latin typeface="Calibri" pitchFamily="0" charset="0"/>
                <a:ea typeface="等线" pitchFamily="0" charset="0"/>
                <a:cs typeface="Lucida Sans" pitchFamily="0" charset="0"/>
              </a:rPr>
              <a:t>	</a:t>
            </a: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5.1. SMS Alert</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5.2. Alarm </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400" b="0" i="0" u="none" strike="noStrike" kern="1200" cap="none" spc="0" baseline="0">
                <a:solidFill>
                  <a:schemeClr val="tx1"/>
                </a:solidFill>
                <a:latin typeface="Times New Roman" pitchFamily="18" charset="0"/>
                <a:ea typeface="等线" pitchFamily="0" charset="0"/>
                <a:cs typeface="Times New Roman" pitchFamily="18" charset="0"/>
              </a:rPr>
              <a:t>	5.3. Species Image Forwarder</a:t>
            </a:r>
            <a:endParaRPr lang="en-US" altLang="zh-CN" sz="24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Calibri" pitchFamily="0" charset="0"/>
              <a:ea typeface="等线" pitchFamily="0" charset="0"/>
              <a:cs typeface="Lucida Sans" pitchFamily="0" charset="0"/>
            </a:endParaRPr>
          </a:p>
          <a:p>
            <a:pPr marL="514350" indent="-514350" algn="just">
              <a:lnSpc>
                <a:spcPct val="90000"/>
              </a:lnSpc>
              <a:spcBef>
                <a:spcPts val="1000"/>
              </a:spcBef>
              <a:spcAft>
                <a:spcPts val="0"/>
              </a:spcAft>
              <a:buSzPct val="100000"/>
              <a:buFontTx/>
              <a:buAutoNum type="arabicPeriod"/>
            </a:pPr>
            <a:endParaRPr lang="zh-CN" altLang="en-US" sz="28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1713508981"/>
      </p:ext>
    </p:extLst>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57"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1. Wildlife Defense Web Control Panel</a:t>
            </a:r>
            <a:endParaRPr lang="zh-CN" altLang="en-US" sz="3600" b="1" i="0" u="none" strike="noStrike" kern="0" cap="none" spc="0" baseline="0">
              <a:solidFill>
                <a:srgbClr val="000000"/>
              </a:solidFill>
              <a:latin typeface="Times New Roman" pitchFamily="18" charset="0"/>
              <a:ea typeface="Times New Roman" pitchFamily="18" charset="0"/>
              <a:cs typeface="Times New Roman" pitchFamily="18" charset="0"/>
              <a:sym typeface="Times New Roman" pitchFamily="18" charset="0"/>
            </a:endParaRPr>
          </a:p>
        </p:txBody>
      </p:sp>
      <p:sp>
        <p:nvSpPr>
          <p:cNvPr id="58"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This module serves as the centralized interface for the entire system, providing essential tools for management and control.</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This module is designed and developed using Python, Flask, MySQL, and Bootstrap to provide an efficient and user-friendly interface for managing and controlling the wildlife monitoring and alert system. </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Calibri" pitchFamily="0" charset="0"/>
              <a:ea typeface="等线" pitchFamily="0" charset="0"/>
              <a:cs typeface="Lucida Sans" pitchFamily="0" charset="0"/>
            </a:endParaRPr>
          </a:p>
          <a:p>
            <a:pPr marL="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Admins can configure alert settings, including SMS notifications and audible alarms. The integration ensures seamless communication with the Alert Generator module.</a:t>
            </a:r>
            <a:endParaRPr lang="zh-CN" altLang="en-US" sz="28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1109949699"/>
      </p:ext>
    </p:extLst>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1"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2. End User Interface</a:t>
            </a:r>
            <a:endParaRPr lang="zh-CN" altLang="en-US" sz="3600" b="1" i="0" u="none" strike="noStrike" kern="0" cap="none" spc="0" baseline="0">
              <a:solidFill>
                <a:srgbClr val="000000"/>
              </a:solidFill>
              <a:latin typeface="Times New Roman" pitchFamily="18" charset="0"/>
              <a:ea typeface="Times New Roman" pitchFamily="18" charset="0"/>
              <a:cs typeface="Times New Roman" pitchFamily="18" charset="0"/>
              <a:sym typeface="Times New Roman" pitchFamily="18" charset="0"/>
            </a:endParaRPr>
          </a:p>
        </p:txBody>
      </p:sp>
      <p:sp>
        <p:nvSpPr>
          <p:cNvPr id="62"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2.1. Admin</a:t>
            </a:r>
            <a:endParaRPr lang="en-US" altLang="zh-CN" sz="2800" b="1" i="0" u="none" strike="noStrike" kern="1200" cap="none" spc="0" baseline="0">
              <a:solidFill>
                <a:schemeClr val="tx1"/>
              </a:solidFill>
              <a:latin typeface="Times New Roman" pitchFamily="18" charset="0"/>
              <a:ea typeface="等线" pitchFamily="0" charset="0"/>
              <a:cs typeface="Times New Roman" pitchFamily="18" charset="0"/>
            </a:endParaRPr>
          </a:p>
          <a:p>
            <a:pPr lvl="1" marL="685800" indent="-228600" algn="just">
              <a:lnSpc>
                <a:spcPct val="90000"/>
              </a:lnSpc>
              <a:spcBef>
                <a:spcPts val="5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Facilitates login and dataset upload.</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685800" indent="-228600" algn="just">
              <a:lnSpc>
                <a:spcPct val="90000"/>
              </a:lnSpc>
              <a:spcBef>
                <a:spcPts val="5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Allows training of the </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WildNet</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 Model.</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685800" indent="-228600" algn="just">
              <a:lnSpc>
                <a:spcPct val="90000"/>
              </a:lnSpc>
              <a:spcBef>
                <a:spcPts val="5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Enables the addition and management of forest rangers.</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2.2. User</a:t>
            </a:r>
            <a:endParaRPr lang="en-US" altLang="zh-CN" sz="2800" b="1" i="0" u="none" strike="noStrike" kern="1200" cap="none" spc="0" baseline="0">
              <a:solidFill>
                <a:schemeClr val="tx1"/>
              </a:solidFill>
              <a:latin typeface="Times New Roman" pitchFamily="18" charset="0"/>
              <a:ea typeface="等线" pitchFamily="0" charset="0"/>
              <a:cs typeface="Times New Roman" pitchFamily="18" charset="0"/>
            </a:endParaRPr>
          </a:p>
          <a:p>
            <a:pPr lvl="1" marL="685800" indent="-228600" algn="just">
              <a:lnSpc>
                <a:spcPct val="90000"/>
              </a:lnSpc>
              <a:spcBef>
                <a:spcPts val="5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Accepts input from images, live feeds, or videos.</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lvl="1" marL="685800" indent="-228600" algn="just">
              <a:lnSpc>
                <a:spcPct val="90000"/>
              </a:lnSpc>
              <a:spcBef>
                <a:spcPts val="500"/>
              </a:spcBef>
              <a:spcAft>
                <a:spcPts val="0"/>
              </a:spcAft>
              <a:buFont typeface="Arial" pitchFamily="34" charset="0"/>
              <a:buChar char="•"/>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Executes predictions regarding animal presence.</a:t>
            </a:r>
            <a:endParaRPr lang="zh-CN" altLang="en-US" sz="28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786530069"/>
      </p:ext>
    </p:extLst>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5"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3. </a:t>
            </a: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WildNet</a:t>
            </a: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 Model: Build and Train:</a:t>
            </a:r>
            <a:endParaRPr lang="zh-CN" altLang="en-US" sz="3600" b="1" i="0" u="none" strike="noStrike" kern="0" cap="none" spc="0" baseline="0">
              <a:solidFill>
                <a:srgbClr val="000000"/>
              </a:solidFill>
              <a:latin typeface="Times New Roman" pitchFamily="18" charset="0"/>
              <a:ea typeface="Times New Roman" pitchFamily="18" charset="0"/>
              <a:cs typeface="Times New Roman" pitchFamily="18" charset="0"/>
              <a:sym typeface="Times New Roman" pitchFamily="18" charset="0"/>
            </a:endParaRPr>
          </a:p>
        </p:txBody>
      </p:sp>
      <p:sp>
        <p:nvSpPr>
          <p:cNvPr id="66"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70000"/>
              </a:lnSpc>
              <a:spcBef>
                <a:spcPts val="1000"/>
              </a:spcBef>
              <a:spcAft>
                <a:spcPts val="0"/>
              </a:spcAft>
              <a:buNone/>
            </a:pPr>
            <a:r>
              <a:rPr lang="en-US" altLang="zh-CN" sz="2600" b="1" i="0" u="none" strike="noStrike" kern="1200" cap="none" spc="0" baseline="0">
                <a:solidFill>
                  <a:schemeClr val="tx1"/>
                </a:solidFill>
                <a:latin typeface="Times New Roman" pitchFamily="18" charset="0"/>
                <a:ea typeface="等线" pitchFamily="0" charset="0"/>
                <a:cs typeface="Times New Roman" pitchFamily="18" charset="0"/>
              </a:rPr>
              <a:t>Import Dataset: </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Gathers relevant data for training.</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r>
              <a:rPr lang="en-US" altLang="zh-CN" sz="2600" b="1" i="0" u="none" strike="noStrike" kern="1200" cap="none" spc="0" baseline="0">
                <a:solidFill>
                  <a:schemeClr val="tx1"/>
                </a:solidFill>
                <a:latin typeface="Times New Roman" pitchFamily="18" charset="0"/>
                <a:ea typeface="等线" pitchFamily="0" charset="0"/>
                <a:cs typeface="Times New Roman" pitchFamily="18" charset="0"/>
              </a:rPr>
              <a:t>Preprocessing:</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 Conducts tasks such as resizing, grayscale conversion, noise filtering, </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binarization</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 and segmentation using RPN.</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r>
              <a:rPr lang="en-US" altLang="zh-CN" sz="2600" b="1" i="0" u="none" strike="noStrike" kern="1200" cap="none" spc="0" baseline="0">
                <a:solidFill>
                  <a:schemeClr val="tx1"/>
                </a:solidFill>
                <a:latin typeface="Times New Roman" pitchFamily="18" charset="0"/>
                <a:ea typeface="等线" pitchFamily="0" charset="0"/>
                <a:cs typeface="Times New Roman" pitchFamily="18" charset="0"/>
              </a:rPr>
              <a:t>Feature Extraction: </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Utilizes Convolution, Activation, and Pooling layers.</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r>
              <a:rPr lang="en-US" altLang="zh-CN" sz="2600" b="1" i="0" u="none" strike="noStrike" kern="1200" cap="none" spc="0" baseline="0">
                <a:solidFill>
                  <a:schemeClr val="tx1"/>
                </a:solidFill>
                <a:latin typeface="Times New Roman" pitchFamily="18" charset="0"/>
                <a:ea typeface="等线" pitchFamily="0" charset="0"/>
                <a:cs typeface="Times New Roman" pitchFamily="18" charset="0"/>
              </a:rPr>
              <a:t>Classification:</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 Applies Fully Connected layers.</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r>
              <a:rPr lang="en-US" altLang="zh-CN" sz="2600" b="1" i="0" u="none" strike="noStrike" kern="1200" cap="none" spc="0" baseline="0">
                <a:solidFill>
                  <a:schemeClr val="tx1"/>
                </a:solidFill>
                <a:latin typeface="Times New Roman" pitchFamily="18" charset="0"/>
                <a:ea typeface="等线" pitchFamily="0" charset="0"/>
                <a:cs typeface="Times New Roman" pitchFamily="18" charset="0"/>
              </a:rPr>
              <a:t>WildNet</a:t>
            </a:r>
            <a:r>
              <a:rPr lang="en-US" altLang="zh-CN" sz="2600" b="1" i="0" u="none" strike="noStrike" kern="1200" cap="none" spc="0" baseline="0">
                <a:solidFill>
                  <a:schemeClr val="tx1"/>
                </a:solidFill>
                <a:latin typeface="Times New Roman" pitchFamily="18" charset="0"/>
                <a:ea typeface="等线" pitchFamily="0" charset="0"/>
                <a:cs typeface="Times New Roman" pitchFamily="18" charset="0"/>
              </a:rPr>
              <a:t> Model Building and Training</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 Deploys Convolutional Neural Network (CNN) for training.</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r>
              <a:rPr lang="en-US" altLang="zh-CN" sz="2600" b="1" i="0" u="none" strike="noStrike" kern="1200" cap="none" spc="0" baseline="0">
                <a:solidFill>
                  <a:schemeClr val="tx1"/>
                </a:solidFill>
                <a:latin typeface="Times New Roman" pitchFamily="18" charset="0"/>
                <a:ea typeface="等线" pitchFamily="0" charset="0"/>
                <a:cs typeface="Times New Roman" pitchFamily="18" charset="0"/>
              </a:rPr>
              <a:t>Deploy Model</a:t>
            </a:r>
            <a:r>
              <a:rPr lang="en-US" altLang="zh-CN" sz="2600" b="0" i="0" u="none" strike="noStrike" kern="1200" cap="none" spc="0" baseline="0">
                <a:solidFill>
                  <a:schemeClr val="tx1"/>
                </a:solidFill>
                <a:latin typeface="Times New Roman" pitchFamily="18" charset="0"/>
                <a:ea typeface="等线" pitchFamily="0" charset="0"/>
                <a:cs typeface="Times New Roman" pitchFamily="18" charset="0"/>
              </a:rPr>
              <a:t>: Integrates the trained model into the Wildlife Defense Web Control Panel.</a:t>
            </a:r>
            <a:endParaRPr lang="en-US" altLang="zh-CN" sz="26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0000"/>
              </a:lnSpc>
              <a:spcBef>
                <a:spcPts val="1000"/>
              </a:spcBef>
              <a:spcAft>
                <a:spcPts val="0"/>
              </a:spcAft>
              <a:buNone/>
            </a:pPr>
            <a:endParaRPr lang="zh-CN" altLang="en-US" sz="26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1834265181"/>
      </p:ext>
    </p:extLst>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69"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4. </a:t>
            </a:r>
            <a:r>
              <a:rPr lang="en-US" altLang="zh-CN" sz="3600" b="1" i="0" u="none" strike="noStrike" kern="1200" cap="none" spc="0" baseline="0">
                <a:solidFill>
                  <a:schemeClr val="tx1"/>
                </a:solidFill>
                <a:latin typeface="Times New Roman" pitchFamily="18" charset="0"/>
                <a:ea typeface="等线" pitchFamily="0" charset="0"/>
                <a:cs typeface="Times New Roman" pitchFamily="18" charset="0"/>
              </a:rPr>
              <a:t>Wild Animal Crossing Predictor</a:t>
            </a:r>
            <a:endParaRPr lang="zh-CN" altLang="en-US" sz="3600" b="1" i="0" u="none" strike="noStrike" kern="1200" cap="none" spc="0" baseline="0">
              <a:solidFill>
                <a:schemeClr val="tx1"/>
              </a:solidFill>
              <a:latin typeface="Times New Roman" pitchFamily="18" charset="0"/>
              <a:ea typeface="等线" pitchFamily="0" charset="0"/>
              <a:cs typeface="Times New Roman" pitchFamily="18" charset="0"/>
            </a:endParaRPr>
          </a:p>
        </p:txBody>
      </p:sp>
      <p:sp>
        <p:nvSpPr>
          <p:cNvPr id="70"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endParaRPr lang="en-US" altLang="zh-CN" sz="2800" b="1"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Accepts input from various sources such as images, live feeds, or videos.</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Utilizes Temporal Convolutional Network (TCN) for accurate predictions.</a:t>
            </a:r>
            <a:endParaRPr lang="zh-CN" altLang="en-US" sz="28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2105046022"/>
      </p:ext>
    </p:extLst>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3"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0" cap="none" spc="0" baseline="0">
                <a:solidFill>
                  <a:srgbClr val="000000"/>
                </a:solidFill>
                <a:latin typeface="Times New Roman" pitchFamily="18" charset="0"/>
                <a:ea typeface="等线" pitchFamily="0" charset="0"/>
                <a:cs typeface="Times New Roman" pitchFamily="18" charset="0"/>
                <a:sym typeface="Times New Roman" pitchFamily="18" charset="0"/>
              </a:rPr>
              <a:t>5. </a:t>
            </a:r>
            <a:r>
              <a:rPr lang="en-US" altLang="zh-CN" sz="3600" b="1" i="0" u="none" strike="noStrike" kern="1200" cap="none" spc="0" baseline="0">
                <a:solidFill>
                  <a:schemeClr val="tx1"/>
                </a:solidFill>
                <a:latin typeface="Times New Roman" pitchFamily="18" charset="0"/>
                <a:ea typeface="等线" pitchFamily="0" charset="0"/>
                <a:cs typeface="Times New Roman" pitchFamily="18" charset="0"/>
              </a:rPr>
              <a:t>Alert Generator:</a:t>
            </a:r>
            <a:endParaRPr lang="zh-CN" altLang="en-US" sz="3600" b="1" i="0" u="none" strike="noStrike" kern="1200" cap="none" spc="0" baseline="0">
              <a:solidFill>
                <a:schemeClr val="tx1"/>
              </a:solidFill>
              <a:latin typeface="Times New Roman" pitchFamily="18" charset="0"/>
              <a:ea typeface="等线" pitchFamily="0" charset="0"/>
              <a:cs typeface="Times New Roman" pitchFamily="18" charset="0"/>
            </a:endParaRPr>
          </a:p>
        </p:txBody>
      </p:sp>
      <p:sp>
        <p:nvSpPr>
          <p:cNvPr id="74"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SMS Alert: </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Sends real-time alerts via SMS.</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Alarm: </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Raises audible alarms in response to potential threats.</a:t>
            </a: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endParaRPr lang="en-US" altLang="zh-CN" sz="28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90000"/>
              </a:lnSpc>
              <a:spcBef>
                <a:spcPts val="1000"/>
              </a:spcBef>
              <a:spcAft>
                <a:spcPts val="0"/>
              </a:spcAft>
              <a:buNone/>
            </a:pPr>
            <a:r>
              <a:rPr lang="en-US" altLang="zh-CN" sz="2800" b="1" i="0" u="none" strike="noStrike" kern="1200" cap="none" spc="0" baseline="0">
                <a:solidFill>
                  <a:schemeClr val="tx1"/>
                </a:solidFill>
                <a:latin typeface="Times New Roman" pitchFamily="18" charset="0"/>
                <a:ea typeface="等线" pitchFamily="0" charset="0"/>
                <a:cs typeface="Times New Roman" pitchFamily="18" charset="0"/>
              </a:rPr>
              <a:t>Species Image Forwarder: </a:t>
            </a:r>
            <a:r>
              <a:rPr lang="en-US" altLang="zh-CN" sz="2800" b="0" i="0" u="none" strike="noStrike" kern="1200" cap="none" spc="0" baseline="0">
                <a:solidFill>
                  <a:schemeClr val="tx1"/>
                </a:solidFill>
                <a:latin typeface="Times New Roman" pitchFamily="18" charset="0"/>
                <a:ea typeface="等线" pitchFamily="0" charset="0"/>
                <a:cs typeface="Times New Roman" pitchFamily="18" charset="0"/>
              </a:rPr>
              <a:t>Forwards images of detected species for further analysis.</a:t>
            </a:r>
            <a:endParaRPr lang="zh-CN" altLang="en-US" sz="2800" b="0" i="0" u="none" strike="noStrike" kern="1200" cap="none" spc="0" baseline="0">
              <a:solidFill>
                <a:schemeClr val="tx1"/>
              </a:solidFill>
              <a:latin typeface="Calibri" pitchFamily="0" charset="0"/>
              <a:ea typeface="等线" pitchFamily="0" charset="0"/>
              <a:cs typeface="Lucida Sans" pitchFamily="0" charset="0"/>
            </a:endParaRPr>
          </a:p>
        </p:txBody>
      </p:sp>
    </p:spTree>
    <p:extLst>
      <p:ext uri="{BB962C8B-B14F-4D97-AF65-F5344CB8AC3E}">
        <p14:creationId xmlns:p14="http://schemas.microsoft.com/office/powerpoint/2010/main" val="1533792829"/>
      </p:ext>
    </p:extLst>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7"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1200" cap="none" spc="0" baseline="0">
                <a:solidFill>
                  <a:schemeClr val="tx1"/>
                </a:solidFill>
                <a:latin typeface="Cambria" pitchFamily="18" charset="0"/>
                <a:ea typeface="Cambria" pitchFamily="18" charset="0"/>
                <a:cs typeface="Calibri" pitchFamily="0" charset="0"/>
              </a:rPr>
              <a:t>Work Done So Far</a:t>
            </a:r>
            <a:endParaRPr lang="zh-CN" altLang="en-US" sz="3600" b="1" i="0" u="none" strike="noStrike" kern="1200" cap="none" spc="0" baseline="0">
              <a:solidFill>
                <a:schemeClr val="tx1"/>
              </a:solidFill>
              <a:latin typeface="Cambria" pitchFamily="18" charset="0"/>
              <a:ea typeface="Cambria" pitchFamily="18" charset="0"/>
              <a:cs typeface="Calibri" pitchFamily="0" charset="0"/>
            </a:endParaRPr>
          </a:p>
        </p:txBody>
      </p:sp>
      <p:sp>
        <p:nvSpPr>
          <p:cNvPr id="78"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Studied existing wildlife monitoring and detection systems.</a:t>
            </a:r>
            <a:endParaRPr lang="en-US" altLang="zh-CN" sz="28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Collected animal images and video datasets for training.</a:t>
            </a:r>
            <a:endParaRPr lang="en-US" altLang="zh-CN" sz="28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Preprocessed data by resizing and cleaning images.</a:t>
            </a:r>
            <a:endParaRPr lang="en-US" altLang="zh-CN" sz="28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Designed the system architecture of AI-</a:t>
            </a:r>
            <a:r>
              <a:rPr lang="en-US" altLang="zh-CN" sz="2800" b="0" i="0" u="none" strike="noStrike" kern="1200" cap="none" spc="0" baseline="0">
                <a:solidFill>
                  <a:schemeClr val="tx1"/>
                </a:solidFill>
                <a:latin typeface="Cambria" pitchFamily="18" charset="0"/>
                <a:ea typeface="Cambria" pitchFamily="18" charset="0"/>
                <a:cs typeface="Lucida Sans" pitchFamily="0" charset="0"/>
              </a:rPr>
              <a:t>WildNet</a:t>
            </a:r>
            <a:r>
              <a:rPr lang="en-US" altLang="zh-CN" sz="2800" b="0" i="0" u="none" strike="noStrike" kern="1200" cap="none" spc="0" baseline="0">
                <a:solidFill>
                  <a:schemeClr val="tx1"/>
                </a:solidFill>
                <a:latin typeface="Cambria" pitchFamily="18" charset="0"/>
                <a:ea typeface="Cambria" pitchFamily="18" charset="0"/>
                <a:cs typeface="Lucida Sans" pitchFamily="0" charset="0"/>
              </a:rPr>
              <a:t>.</a:t>
            </a:r>
            <a:endParaRPr lang="en-US" altLang="zh-CN" sz="28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Selected suitable deep learning models for detection and classification.</a:t>
            </a:r>
            <a:endParaRPr lang="en-US" altLang="zh-CN" sz="28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Implemented initial animal detection model using transfer learning.</a:t>
            </a:r>
            <a:endParaRPr lang="en-US" altLang="zh-CN" sz="28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Tested the model with sample images and video frames.</a:t>
            </a:r>
            <a:endParaRPr lang="en-US" altLang="zh-CN" sz="28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90000"/>
              </a:lnSpc>
              <a:spcBef>
                <a:spcPts val="1000"/>
              </a:spcBef>
              <a:spcAft>
                <a:spcPts val="0"/>
              </a:spcAft>
              <a:buFont typeface="Arial" pitchFamily="34" charset="0"/>
              <a:buChar char="•"/>
            </a:pPr>
            <a:r>
              <a:rPr lang="en-US" altLang="zh-CN" sz="2800" b="0" i="0" u="none" strike="noStrike" kern="1200" cap="none" spc="0" baseline="0">
                <a:solidFill>
                  <a:schemeClr val="tx1"/>
                </a:solidFill>
                <a:latin typeface="Cambria" pitchFamily="18" charset="0"/>
                <a:ea typeface="Cambria" pitchFamily="18" charset="0"/>
                <a:cs typeface="Lucida Sans" pitchFamily="0" charset="0"/>
              </a:rPr>
              <a:t>Prepared project documentation and diagrams.</a:t>
            </a:r>
            <a:endParaRPr lang="zh-CN" altLang="en-US" sz="28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689917478"/>
      </p:ext>
    </p:extLst>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1"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等线" pitchFamily="0" charset="0"/>
                <a:cs typeface="Times New Roman" pitchFamily="18" charset="0"/>
              </a:rPr>
              <a:t>Conclusion</a:t>
            </a:r>
            <a:endParaRPr lang="zh-CN" altLang="en-US" sz="3600" b="1" i="0" u="none" strike="noStrike" kern="1200" cap="none" spc="0" baseline="0">
              <a:solidFill>
                <a:schemeClr val="tx1"/>
              </a:solidFill>
              <a:latin typeface="Times New Roman" pitchFamily="18" charset="0"/>
              <a:ea typeface="等线" pitchFamily="0" charset="0"/>
              <a:cs typeface="Times New Roman" pitchFamily="18" charset="0"/>
            </a:endParaRPr>
          </a:p>
        </p:txBody>
      </p:sp>
      <p:sp>
        <p:nvSpPr>
          <p:cNvPr id="82"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140000"/>
              </a:lnSpc>
              <a:spcBef>
                <a:spcPts val="1000"/>
              </a:spcBef>
              <a:spcAft>
                <a:spcPts val="0"/>
              </a:spcAft>
              <a:buNone/>
            </a:pPr>
            <a:r>
              <a:rPr lang="en-US" altLang="zh-CN" sz="2600" b="0" i="0" u="none" strike="noStrike" kern="1200" cap="none" spc="0" baseline="0">
                <a:solidFill>
                  <a:schemeClr val="tx1"/>
                </a:solidFill>
                <a:latin typeface="Cambria" pitchFamily="18" charset="0"/>
                <a:ea typeface="Cambria" pitchFamily="18" charset="0"/>
                <a:cs typeface="Lucida Sans" pitchFamily="0" charset="0"/>
              </a:rPr>
              <a:t>In conclusion, this project presents an AI-based automated wildlife monitoring and early warning system for road crossings. By using deep learning models for animal detection and classification, the system can identify wildlife presence in real time and send instant alerts to road users and forest officials. This approach helps in reducing wildlife–vehicle collisions, protecting endangered species, and improving overall road safety. The proposed system minimizes human intervention and provides an efficient, reliable, and scalable solution for wildlife conservation and public safety.</a:t>
            </a: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228600" indent="-228600" algn="just">
              <a:lnSpc>
                <a:spcPct val="140000"/>
              </a:lnSpc>
              <a:spcBef>
                <a:spcPts val="1000"/>
              </a:spcBef>
              <a:spcAft>
                <a:spcPts val="0"/>
              </a:spcAft>
              <a:buFont typeface="Arial" pitchFamily="34" charset="0"/>
              <a:buChar char="•"/>
            </a:pPr>
            <a:endParaRPr lang="zh-CN" altLang="en-US" sz="26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195584903"/>
      </p:ext>
    </p:extLst>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5" name="矩形"/>
          <p:cNvSpPr>
            <a:spLocks/>
          </p:cNvSpPr>
          <p:nvPr/>
        </p:nvSpPr>
        <p:spPr>
          <a:xfrm rot="0">
            <a:off x="518615" y="0"/>
            <a:ext cx="11163868" cy="64629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ctr">
              <a:lnSpc>
                <a:spcPct val="100000"/>
              </a:lnSpc>
              <a:spcBef>
                <a:spcPts val="0"/>
              </a:spcBef>
              <a:spcAft>
                <a:spcPts val="0"/>
              </a:spcAft>
              <a:buNone/>
            </a:pPr>
            <a:r>
              <a:rPr lang="en-US" altLang="zh-CN" sz="3600" b="1" i="0" u="none" strike="noStrike" kern="1200" cap="none" spc="0" baseline="0">
                <a:solidFill>
                  <a:schemeClr val="tx1"/>
                </a:solidFill>
                <a:latin typeface="Cambria" pitchFamily="18" charset="0"/>
                <a:ea typeface="Cambria" pitchFamily="18" charset="0"/>
                <a:cs typeface="Calibri" pitchFamily="0" charset="0"/>
              </a:rPr>
              <a:t>Future Enhancement</a:t>
            </a:r>
            <a:endParaRPr lang="zh-CN" altLang="en-US" sz="3600" b="1" i="0" u="none" strike="noStrike" kern="1200" cap="none" spc="0" baseline="0">
              <a:solidFill>
                <a:schemeClr val="tx1"/>
              </a:solidFill>
              <a:latin typeface="Cambria" pitchFamily="18" charset="0"/>
              <a:ea typeface="Cambria" pitchFamily="18" charset="0"/>
              <a:cs typeface="Calibri" pitchFamily="0" charset="0"/>
            </a:endParaRPr>
          </a:p>
        </p:txBody>
      </p:sp>
      <p:sp>
        <p:nvSpPr>
          <p:cNvPr id="86" name="文本框"/>
          <p:cNvSpPr>
            <a:spLocks noGrp="1"/>
          </p:cNvSpPr>
          <p:nvPr>
            <p:ph type="body" idx="1"/>
          </p:nvPr>
        </p:nvSpPr>
        <p:spPr>
          <a:xfrm rot="0">
            <a:off x="518615" y="887104"/>
            <a:ext cx="11163868" cy="5418160"/>
          </a:xfrm>
          <a:prstGeom prst="rect"/>
          <a:noFill/>
          <a:ln w="12700" cmpd="sng" cap="flat">
            <a:noFill/>
            <a:prstDash val="solid"/>
            <a:miter/>
          </a:ln>
        </p:spPr>
        <p:txBody>
          <a:bodyPr vert="horz" wrap="square" lIns="91440" tIns="45720" rIns="91440" bIns="45720" anchor="t" anchorCtr="0">
            <a:prstTxWarp prst="textNoShape"/>
          </a:bodyPr>
          <a:lstStyle/>
          <a:p>
            <a:pPr marL="0" indent="0" algn="just">
              <a:lnSpc>
                <a:spcPct val="90000"/>
              </a:lnSpc>
              <a:spcBef>
                <a:spcPts val="1000"/>
              </a:spcBef>
              <a:spcAft>
                <a:spcPts val="0"/>
              </a:spcAft>
              <a:buNone/>
            </a:pPr>
            <a:r>
              <a:rPr lang="en-US" altLang="zh-CN" sz="2600" b="0" i="0" u="none" strike="noStrike" kern="1200" cap="none" spc="0" baseline="0">
                <a:solidFill>
                  <a:schemeClr val="tx1"/>
                </a:solidFill>
                <a:latin typeface="Cambria" pitchFamily="18" charset="0"/>
                <a:ea typeface="Cambria" pitchFamily="18" charset="0"/>
                <a:cs typeface="Lucida Sans" pitchFamily="0" charset="0"/>
              </a:rPr>
              <a:t>The system can be connected to traffic signals and warning boards to stop vehicles when animals are detected.</a:t>
            </a: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600" b="0" i="0" u="none" strike="noStrike" kern="1200" cap="none" spc="0" baseline="0">
                <a:solidFill>
                  <a:schemeClr val="tx1"/>
                </a:solidFill>
                <a:latin typeface="Cambria" pitchFamily="18" charset="0"/>
                <a:ea typeface="Cambria" pitchFamily="18" charset="0"/>
                <a:cs typeface="Lucida Sans" pitchFamily="0" charset="0"/>
              </a:rPr>
              <a:t>A mobile app can be developed to send alerts directly to drivers and forest officers.</a:t>
            </a: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600" b="0" i="0" u="none" strike="noStrike" kern="1200" cap="none" spc="0" baseline="0">
                <a:solidFill>
                  <a:schemeClr val="tx1"/>
                </a:solidFill>
                <a:latin typeface="Cambria" pitchFamily="18" charset="0"/>
                <a:ea typeface="Cambria" pitchFamily="18" charset="0"/>
                <a:cs typeface="Lucida Sans" pitchFamily="0" charset="0"/>
              </a:rPr>
              <a:t>Thermal and night-vision cameras can be added for better detection at night and in fog.</a:t>
            </a: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600" b="0" i="0" u="none" strike="noStrike" kern="1200" cap="none" spc="0" baseline="0">
                <a:solidFill>
                  <a:schemeClr val="tx1"/>
                </a:solidFill>
                <a:latin typeface="Cambria" pitchFamily="18" charset="0"/>
                <a:ea typeface="Cambria" pitchFamily="18" charset="0"/>
                <a:cs typeface="Lucida Sans" pitchFamily="0" charset="0"/>
              </a:rPr>
              <a:t>GPS can be used to track animal movement and identify accident-prone zones.</a:t>
            </a: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90000"/>
              </a:lnSpc>
              <a:spcBef>
                <a:spcPts val="1000"/>
              </a:spcBef>
              <a:spcAft>
                <a:spcPts val="0"/>
              </a:spcAft>
              <a:buNone/>
            </a:pPr>
            <a:r>
              <a:rPr lang="en-US" altLang="zh-CN" sz="2600" b="0" i="0" u="none" strike="noStrike" kern="1200" cap="none" spc="0" baseline="0">
                <a:solidFill>
                  <a:schemeClr val="tx1"/>
                </a:solidFill>
                <a:latin typeface="Cambria" pitchFamily="18" charset="0"/>
                <a:ea typeface="Cambria" pitchFamily="18" charset="0"/>
                <a:cs typeface="Lucida Sans" pitchFamily="0" charset="0"/>
              </a:rPr>
              <a:t>More animal species can be included for better classification accuracy.</a:t>
            </a:r>
            <a:endParaRPr lang="en-US" altLang="zh-CN" sz="2600" b="0" i="0" u="none" strike="noStrike" kern="1200" cap="none" spc="0" baseline="0">
              <a:solidFill>
                <a:schemeClr val="tx1"/>
              </a:solidFill>
              <a:latin typeface="Cambria" pitchFamily="18" charset="0"/>
              <a:ea typeface="Cambria" pitchFamily="18" charset="0"/>
              <a:cs typeface="Lucida Sans" pitchFamily="0" charset="0"/>
            </a:endParaRPr>
          </a:p>
          <a:p>
            <a:pPr marL="0" indent="0" algn="just">
              <a:lnSpc>
                <a:spcPct val="150000"/>
              </a:lnSpc>
              <a:spcBef>
                <a:spcPts val="1000"/>
              </a:spcBef>
              <a:spcAft>
                <a:spcPts val="0"/>
              </a:spcAft>
              <a:buNone/>
            </a:pPr>
            <a:endParaRPr lang="zh-CN" altLang="en-US" sz="2600" b="0" i="0" u="none" strike="noStrike" kern="1200" cap="none" spc="0" baseline="0">
              <a:solidFill>
                <a:schemeClr val="tx1"/>
              </a:solidFill>
              <a:latin typeface="Cambria" pitchFamily="18" charset="0"/>
              <a:ea typeface="Cambria" pitchFamily="18" charset="0"/>
              <a:cs typeface="Lucida Sans" pitchFamily="0" charset="0"/>
            </a:endParaRPr>
          </a:p>
        </p:txBody>
      </p:sp>
    </p:spTree>
    <p:extLst>
      <p:ext uri="{BB962C8B-B14F-4D97-AF65-F5344CB8AC3E}">
        <p14:creationId xmlns:p14="http://schemas.microsoft.com/office/powerpoint/2010/main" val="1742342081"/>
      </p:ext>
    </p:extLst>
  </p:cSld>
  <p:clrMapOvr>
    <a:masterClrMapping/>
  </p:clrMapOvr>
</p:sld>
</file>

<file path=ppt/slides/slide2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9" name="文本框"/>
          <p:cNvSpPr>
            <a:spLocks noGrp="1"/>
          </p:cNvSpPr>
          <p:nvPr>
            <p:ph type="title"/>
          </p:nvPr>
        </p:nvSpPr>
        <p:spPr>
          <a:xfrm rot="0">
            <a:off x="838200" y="157307"/>
            <a:ext cx="10515600" cy="646255"/>
          </a:xfrm>
          <a:prstGeom prst="rect"/>
          <a:noFill/>
          <a:ln w="12700" cmpd="sng" cap="flat">
            <a:noFill/>
            <a:prstDash val="solid"/>
            <a:miter/>
          </a:ln>
        </p:spPr>
        <p:txBody>
          <a:bodyPr vert="horz" wrap="square" lIns="91440" tIns="45720" rIns="91440" bIns="45720" anchor="ctr" anchorCtr="0">
            <a:prstTxWarp prst="textNoShape"/>
          </a:bodyPr>
          <a:lstStyle/>
          <a:p>
            <a:pPr marL="0" indent="0" algn="l">
              <a:lnSpc>
                <a:spcPct val="90000"/>
              </a:lnSpc>
              <a:spcBef>
                <a:spcPts val="0"/>
              </a:spcBef>
              <a:spcAft>
                <a:spcPts val="0"/>
              </a:spcAft>
              <a:buNone/>
            </a:pPr>
            <a:r>
              <a:rPr lang="en-US" altLang="zh-CN" sz="4000" b="1" i="0" u="none" strike="noStrike" kern="1200" cap="none" spc="0" baseline="0">
                <a:solidFill>
                  <a:schemeClr val="tx1"/>
                </a:solidFill>
                <a:latin typeface="Times New Roman" pitchFamily="18" charset="0"/>
                <a:ea typeface="等线 Light" pitchFamily="0" charset="0"/>
                <a:cs typeface="Times New Roman" pitchFamily="18" charset="0"/>
              </a:rPr>
              <a:t>References</a:t>
            </a:r>
            <a:endParaRPr lang="zh-CN" altLang="en-US" sz="4000" b="1" i="0" u="none" strike="noStrike" kern="1200" cap="none" spc="0" baseline="0">
              <a:solidFill>
                <a:schemeClr val="tx1"/>
              </a:solidFill>
              <a:latin typeface="Times New Roman" pitchFamily="18" charset="0"/>
              <a:ea typeface="等线 Light" pitchFamily="0" charset="0"/>
              <a:cs typeface="Times New Roman" pitchFamily="18" charset="0"/>
            </a:endParaRPr>
          </a:p>
        </p:txBody>
      </p:sp>
      <p:sp>
        <p:nvSpPr>
          <p:cNvPr id="90" name="文本框"/>
          <p:cNvSpPr>
            <a:spLocks noGrp="1"/>
          </p:cNvSpPr>
          <p:nvPr>
            <p:ph type="body" idx="1"/>
          </p:nvPr>
        </p:nvSpPr>
        <p:spPr>
          <a:xfrm rot="0">
            <a:off x="838200" y="1108364"/>
            <a:ext cx="10515600" cy="5417127"/>
          </a:xfrm>
          <a:prstGeom prst="rect"/>
          <a:noFill/>
          <a:ln w="12700" cmpd="sng" cap="flat">
            <a:noFill/>
            <a:prstDash val="solid"/>
            <a:miter/>
          </a:ln>
        </p:spPr>
        <p:txBody>
          <a:bodyPr vert="horz" wrap="square" lIns="91440" tIns="45720" rIns="91440" bIns="45720" anchor="t" anchorCtr="0">
            <a:prstTxWarp prst="textNoShape"/>
          </a:bodyPr>
          <a:lstStyle/>
          <a:p>
            <a:pPr marL="457200" indent="-457200" algn="just">
              <a:lnSpc>
                <a:spcPct val="79000"/>
              </a:lnSpc>
              <a:spcBef>
                <a:spcPts val="1000"/>
              </a:spcBef>
              <a:spcAft>
                <a:spcPts val="0"/>
              </a:spcAft>
              <a:buFontTx/>
              <a:buAutoNum type="arabicPeriod"/>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S. Giordano, I.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Seitanidis</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M.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Ojo</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D.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Adami</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and F.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Vignoli</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IoT</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solutions for crop protection against wild animal attacks,'' in Proc. IEEE Int. Conf. Environ. Eng. (EE), Mar. 2018, pp. 1-5.</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J. H.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Muribø</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``Locating sheep with YOLOv3,'' M.S. thesis, Fac. Inf. Technol. Elect. Eng., Dept.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Comput</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Sci., NTNU, Trondheim, Norway, 2019.</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R. Y.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Aburasain</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E. A.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Edirisinghe</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and A.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Albatay</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``Drone-based cattle detection using deep neural networks,'' in Intelligent Systems and Applications, K. Arai, S. Kapoor, and R. Bhatia, Eds. Cham, Switzerland: Springer, 2021, pp. 598-611.</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E. S.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Kalhagen</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and Ø. L. Olsen, ``Hierarchical  species detection in real-time video using YOLO,'' M.S thesis, Fac. Eng. Sci., Dept.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Inf</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Commun</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Technol., Univ.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Agder</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Kristiansand, Norway, 2020.</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A.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Roihan</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M.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Hasanudin</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and E.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Sunandar</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``Evaluation methods of bird repellent devices in optimizing crop production in agriculture,'' J. </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Phys.Conf</a:t>
            </a:r>
            <a:r>
              <a:rPr lang="en-US" altLang="zh-CN" sz="2000" b="0" i="0" u="none" strike="noStrike" kern="1200" cap="none" spc="0" baseline="0">
                <a:solidFill>
                  <a:schemeClr val="tx1"/>
                </a:solidFill>
                <a:latin typeface="Times New Roman" pitchFamily="18" charset="0"/>
                <a:ea typeface="等线" pitchFamily="0" charset="0"/>
                <a:cs typeface="Times New Roman" pitchFamily="18" charset="0"/>
              </a:rPr>
              <a:t>. Ser., vol. 1477, Mar. 2020, Art. no. 032012.</a:t>
            </a: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0" indent="0" algn="just">
              <a:lnSpc>
                <a:spcPct val="79000"/>
              </a:lnSpc>
              <a:spcBef>
                <a:spcPts val="1000"/>
              </a:spcBef>
              <a:spcAft>
                <a:spcPts val="0"/>
              </a:spcAft>
              <a:buNone/>
            </a:pP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endParaRPr lang="en-US" altLang="zh-CN" sz="2000" b="0" i="0" u="none" strike="noStrike" kern="1200" cap="none" spc="0" baseline="0">
              <a:solidFill>
                <a:schemeClr val="tx1"/>
              </a:solidFill>
              <a:latin typeface="Times New Roman" pitchFamily="18" charset="0"/>
              <a:ea typeface="等线" pitchFamily="0" charset="0"/>
              <a:cs typeface="Times New Roman" pitchFamily="18" charset="0"/>
            </a:endParaRPr>
          </a:p>
          <a:p>
            <a:pPr marL="457200" indent="-457200" algn="just">
              <a:lnSpc>
                <a:spcPct val="79000"/>
              </a:lnSpc>
              <a:spcBef>
                <a:spcPts val="1000"/>
              </a:spcBef>
              <a:spcAft>
                <a:spcPts val="0"/>
              </a:spcAft>
              <a:buFontTx/>
              <a:buAutoNum type="arabicPeriod"/>
            </a:pPr>
            <a:endParaRPr lang="zh-CN" altLang="en-US" sz="2000" b="0" i="0" u="none" strike="noStrike" kern="1200" cap="none" spc="0" baseline="0">
              <a:solidFill>
                <a:schemeClr val="tx1"/>
              </a:solidFill>
              <a:latin typeface="Times New Roman" pitchFamily="18" charset="0"/>
              <a:ea typeface="等线" pitchFamily="0" charset="0"/>
              <a:cs typeface="Times New Roman" pitchFamily="18" charset="0"/>
            </a:endParaRPr>
          </a:p>
        </p:txBody>
      </p:sp>
    </p:spTree>
    <p:extLst>
      <p:ext uri="{BB962C8B-B14F-4D97-AF65-F5344CB8AC3E}">
        <p14:creationId xmlns:p14="http://schemas.microsoft.com/office/powerpoint/2010/main" val="18834019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670</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PhotoChain: A Blockchain based Secure Photo Sharing Framework for Cross-Social Network</dc:title>
  <dc:creator>Admin</dc:creator>
  <cp:lastModifiedBy>root</cp:lastModifiedBy>
  <cp:revision>87</cp:revision>
  <dcterms:created xsi:type="dcterms:W3CDTF">2023-02-13T23:34:28Z</dcterms:created>
  <dcterms:modified xsi:type="dcterms:W3CDTF">2026-05-22T04:31:20Z</dcterms:modified>
</cp:coreProperties>
</file>